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F85A95A4-BE5F-40BE-96C3-9315B8B035C8}" type="datetimeFigureOut">
              <a:rPr lang="en-US" smtClean="0"/>
              <a:t>1/18/2026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322429325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5A95A4-BE5F-40BE-96C3-9315B8B035C8}"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551642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5A95A4-BE5F-40BE-96C3-9315B8B035C8}"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1676886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5A95A4-BE5F-40BE-96C3-9315B8B035C8}"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154009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5A95A4-BE5F-40BE-96C3-9315B8B035C8}" type="datetimeFigureOut">
              <a:rPr lang="en-US" smtClean="0"/>
              <a:t>1/18/2026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983151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5A95A4-BE5F-40BE-96C3-9315B8B035C8}" type="datetimeFigureOut">
              <a:rPr lang="en-US" smtClean="0"/>
              <a:t>1/18/2026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1050072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F85A95A4-BE5F-40BE-96C3-9315B8B035C8}" type="datetimeFigureOut">
              <a:rPr lang="en-US" smtClean="0"/>
              <a:t>1/18/2026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1771030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5A95A4-BE5F-40BE-96C3-9315B8B035C8}"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3690999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5A95A4-BE5F-40BE-96C3-9315B8B035C8}"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938466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5A95A4-BE5F-40BE-96C3-9315B8B035C8}" type="datetimeFigureOut">
              <a:rPr lang="en-US" smtClean="0"/>
              <a:t>1/18/2026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77879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5A95A4-BE5F-40BE-96C3-9315B8B035C8}"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1459960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5A95A4-BE5F-40BE-96C3-9315B8B035C8}"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1550975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5A95A4-BE5F-40BE-96C3-9315B8B035C8}"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11055100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5A95A4-BE5F-40BE-96C3-9315B8B035C8}"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7017622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5A95A4-BE5F-40BE-96C3-9315B8B035C8}"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39941328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5A95A4-BE5F-40BE-96C3-9315B8B035C8}"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CF456-1AD6-4DC4-B9C8-4728786E58F4}"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3180778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5A95A4-BE5F-40BE-96C3-9315B8B035C8}" type="datetimeFigureOut">
              <a:rPr lang="en-US" smtClean="0"/>
              <a:t>1/18/2026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CF456-1AD6-4DC4-B9C8-4728786E58F4}" type="slidenum">
              <a:rPr lang="en-US" smtClean="0"/>
              <a:t>‹#›</a:t>
            </a:fld>
            <a:endParaRPr lang="en-US"/>
          </a:p>
        </p:txBody>
      </p:sp>
    </p:spTree>
    <p:extLst>
      <p:ext uri="{BB962C8B-B14F-4D97-AF65-F5344CB8AC3E}">
        <p14:creationId xmlns:p14="http://schemas.microsoft.com/office/powerpoint/2010/main" val="100396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85A95A4-BE5F-40BE-96C3-9315B8B035C8}" type="datetimeFigureOut">
              <a:rPr lang="en-US" smtClean="0"/>
              <a:t>1/18/2026</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80CF456-1AD6-4DC4-B9C8-4728786E58F4}" type="slidenum">
              <a:rPr lang="en-US" smtClean="0"/>
              <a:t>‹#›</a:t>
            </a:fld>
            <a:endParaRPr lang="en-US"/>
          </a:p>
        </p:txBody>
      </p:sp>
    </p:spTree>
    <p:extLst>
      <p:ext uri="{BB962C8B-B14F-4D97-AF65-F5344CB8AC3E}">
        <p14:creationId xmlns:p14="http://schemas.microsoft.com/office/powerpoint/2010/main" val="322780734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EF467-D058-BE4F-390D-89F4F31AC47A}"/>
              </a:ext>
            </a:extLst>
          </p:cNvPr>
          <p:cNvSpPr>
            <a:spLocks noGrp="1"/>
          </p:cNvSpPr>
          <p:nvPr>
            <p:ph type="ctrTitle"/>
          </p:nvPr>
        </p:nvSpPr>
        <p:spPr>
          <a:xfrm>
            <a:off x="2100825" y="2118851"/>
            <a:ext cx="8370530" cy="758611"/>
          </a:xfrm>
        </p:spPr>
        <p:txBody>
          <a:bodyPr>
            <a:noAutofit/>
          </a:bodyPr>
          <a:lstStyle/>
          <a:p>
            <a:pPr algn="ctr"/>
            <a:r>
              <a:rPr lang="en-US" sz="6000" b="1" dirty="0" err="1"/>
              <a:t>Proiect</a:t>
            </a:r>
            <a:r>
              <a:rPr lang="en-US" sz="6000" b="1" dirty="0"/>
              <a:t> MSS – Tema 4</a:t>
            </a:r>
          </a:p>
        </p:txBody>
      </p:sp>
      <p:sp>
        <p:nvSpPr>
          <p:cNvPr id="3" name="Subtitle 2">
            <a:extLst>
              <a:ext uri="{FF2B5EF4-FFF2-40B4-BE49-F238E27FC236}">
                <a16:creationId xmlns:a16="http://schemas.microsoft.com/office/drawing/2014/main" id="{20FFAFD3-D226-BD26-4610-AF5F2C4C8A75}"/>
              </a:ext>
            </a:extLst>
          </p:cNvPr>
          <p:cNvSpPr>
            <a:spLocks noGrp="1"/>
          </p:cNvSpPr>
          <p:nvPr>
            <p:ph type="subTitle" idx="1"/>
          </p:nvPr>
        </p:nvSpPr>
        <p:spPr>
          <a:xfrm>
            <a:off x="2841522" y="5106373"/>
            <a:ext cx="9144000" cy="1655762"/>
          </a:xfrm>
        </p:spPr>
        <p:txBody>
          <a:bodyPr/>
          <a:lstStyle/>
          <a:p>
            <a:pPr algn="r"/>
            <a:r>
              <a:rPr lang="en-US" dirty="0" err="1"/>
              <a:t>Studenti</a:t>
            </a:r>
            <a:r>
              <a:rPr lang="en-US" dirty="0"/>
              <a:t>: Iorga Denis Gheorghita</a:t>
            </a:r>
          </a:p>
          <a:p>
            <a:pPr algn="r"/>
            <a:r>
              <a:rPr lang="en-US" dirty="0"/>
              <a:t>Deaconu Andrei</a:t>
            </a:r>
          </a:p>
          <a:p>
            <a:pPr algn="r"/>
            <a:r>
              <a:rPr lang="en-US" dirty="0"/>
              <a:t>Grupa: 1.1, EA 1</a:t>
            </a:r>
          </a:p>
        </p:txBody>
      </p:sp>
    </p:spTree>
    <p:extLst>
      <p:ext uri="{BB962C8B-B14F-4D97-AF65-F5344CB8AC3E}">
        <p14:creationId xmlns:p14="http://schemas.microsoft.com/office/powerpoint/2010/main" val="3354700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B4123C-ED91-769B-814C-39CA45710BAC}"/>
              </a:ext>
            </a:extLst>
          </p:cNvPr>
          <p:cNvSpPr txBox="1"/>
          <p:nvPr/>
        </p:nvSpPr>
        <p:spPr>
          <a:xfrm>
            <a:off x="1366684" y="491614"/>
            <a:ext cx="9458632" cy="2862322"/>
          </a:xfrm>
          <a:prstGeom prst="rect">
            <a:avLst/>
          </a:prstGeom>
          <a:noFill/>
        </p:spPr>
        <p:txBody>
          <a:bodyPr wrap="square" rtlCol="0">
            <a:spAutoFit/>
          </a:bodyPr>
          <a:lstStyle/>
          <a:p>
            <a:r>
              <a:rPr lang="en-US" dirty="0" err="1"/>
              <a:t>Enunt</a:t>
            </a:r>
            <a:r>
              <a:rPr lang="en-US" dirty="0"/>
              <a:t>: </a:t>
            </a:r>
          </a:p>
          <a:p>
            <a:r>
              <a:rPr lang="en-US" dirty="0"/>
              <a:t>	Un </a:t>
            </a:r>
            <a:r>
              <a:rPr lang="en-US" dirty="0" err="1"/>
              <a:t>consumator</a:t>
            </a:r>
            <a:r>
              <a:rPr lang="en-US" dirty="0"/>
              <a:t> de 24V, al </a:t>
            </a:r>
            <a:r>
              <a:rPr lang="en-US" dirty="0" err="1"/>
              <a:t>cărui</a:t>
            </a:r>
            <a:r>
              <a:rPr lang="en-US" dirty="0"/>
              <a:t> </a:t>
            </a:r>
            <a:r>
              <a:rPr lang="en-US" dirty="0" err="1"/>
              <a:t>curent</a:t>
            </a:r>
            <a:r>
              <a:rPr lang="en-US" dirty="0"/>
              <a:t> </a:t>
            </a:r>
            <a:r>
              <a:rPr lang="en-US" dirty="0" err="1"/>
              <a:t>mediu</a:t>
            </a:r>
            <a:r>
              <a:rPr lang="en-US" dirty="0"/>
              <a:t> se </a:t>
            </a:r>
            <a:r>
              <a:rPr lang="en-US" dirty="0" err="1"/>
              <a:t>modifică</a:t>
            </a:r>
            <a:r>
              <a:rPr lang="en-US" dirty="0"/>
              <a:t> </a:t>
            </a:r>
            <a:r>
              <a:rPr lang="en-US" dirty="0" err="1"/>
              <a:t>între</a:t>
            </a:r>
            <a:r>
              <a:rPr lang="en-US" dirty="0"/>
              <a:t> 1A </a:t>
            </a:r>
            <a:r>
              <a:rPr lang="en-US" dirty="0" err="1"/>
              <a:t>şi</a:t>
            </a:r>
            <a:r>
              <a:rPr lang="en-US" dirty="0"/>
              <a:t> 2A, </a:t>
            </a:r>
            <a:r>
              <a:rPr lang="en-US" dirty="0" err="1"/>
              <a:t>trebuie</a:t>
            </a:r>
            <a:r>
              <a:rPr lang="en-US" dirty="0"/>
              <a:t> </a:t>
            </a:r>
            <a:r>
              <a:rPr lang="en-US" dirty="0" err="1"/>
              <a:t>alimentat</a:t>
            </a:r>
            <a:r>
              <a:rPr lang="en-US" dirty="0"/>
              <a:t> de la o </a:t>
            </a:r>
            <a:r>
              <a:rPr lang="en-US" dirty="0" err="1"/>
              <a:t>sursă</a:t>
            </a:r>
            <a:r>
              <a:rPr lang="en-US" dirty="0"/>
              <a:t> de 5V </a:t>
            </a:r>
            <a:r>
              <a:rPr lang="en-US" dirty="0" err="1"/>
              <a:t>ce</a:t>
            </a:r>
            <a:r>
              <a:rPr lang="en-US" dirty="0"/>
              <a:t> are </a:t>
            </a:r>
            <a:r>
              <a:rPr lang="en-US" dirty="0" err="1"/>
              <a:t>rezistenţa</a:t>
            </a:r>
            <a:r>
              <a:rPr lang="en-US" dirty="0"/>
              <a:t> </a:t>
            </a:r>
            <a:r>
              <a:rPr lang="en-US" dirty="0" err="1"/>
              <a:t>internă</a:t>
            </a:r>
            <a:r>
              <a:rPr lang="en-US" dirty="0"/>
              <a:t>  . </a:t>
            </a:r>
          </a:p>
          <a:p>
            <a:r>
              <a:rPr lang="en-US" dirty="0"/>
              <a:t>	</a:t>
            </a:r>
            <a:r>
              <a:rPr lang="en-US" dirty="0" err="1"/>
              <a:t>Soluţia</a:t>
            </a:r>
            <a:r>
              <a:rPr lang="en-US" dirty="0"/>
              <a:t> care se </a:t>
            </a:r>
            <a:r>
              <a:rPr lang="en-US" dirty="0" err="1"/>
              <a:t>adoptă</a:t>
            </a:r>
            <a:r>
              <a:rPr lang="en-US" dirty="0"/>
              <a:t> </a:t>
            </a:r>
            <a:r>
              <a:rPr lang="en-US" dirty="0" err="1"/>
              <a:t>este</a:t>
            </a:r>
            <a:r>
              <a:rPr lang="en-US" dirty="0"/>
              <a:t> </a:t>
            </a:r>
            <a:r>
              <a:rPr lang="en-US" dirty="0" err="1"/>
              <a:t>cea</a:t>
            </a:r>
            <a:r>
              <a:rPr lang="en-US" dirty="0"/>
              <a:t> a </a:t>
            </a:r>
            <a:r>
              <a:rPr lang="en-US" dirty="0" err="1"/>
              <a:t>unui</a:t>
            </a:r>
            <a:r>
              <a:rPr lang="en-US" dirty="0"/>
              <a:t> convertor boost cu </a:t>
            </a:r>
            <a:r>
              <a:rPr lang="en-US" dirty="0" err="1"/>
              <a:t>întrerupătorul</a:t>
            </a:r>
            <a:r>
              <a:rPr lang="en-US" dirty="0"/>
              <a:t> la </a:t>
            </a:r>
            <a:r>
              <a:rPr lang="en-US" dirty="0" err="1"/>
              <a:t>priză</a:t>
            </a:r>
            <a:r>
              <a:rPr lang="en-US" dirty="0"/>
              <a:t>, </a:t>
            </a:r>
            <a:r>
              <a:rPr lang="en-US" dirty="0" err="1"/>
              <a:t>funcționând</a:t>
            </a:r>
            <a:r>
              <a:rPr lang="en-US" dirty="0"/>
              <a:t> CCM, cu </a:t>
            </a:r>
            <a:r>
              <a:rPr lang="en-US" dirty="0" err="1"/>
              <a:t>următorii</a:t>
            </a:r>
            <a:r>
              <a:rPr lang="en-US" dirty="0"/>
              <a:t> </a:t>
            </a:r>
            <a:r>
              <a:rPr lang="en-US" dirty="0" err="1"/>
              <a:t>parametri</a:t>
            </a:r>
            <a:r>
              <a:rPr lang="en-US" dirty="0"/>
              <a:t>: </a:t>
            </a:r>
            <a:r>
              <a:rPr lang="en-US" dirty="0" err="1"/>
              <a:t>transformator</a:t>
            </a:r>
            <a:r>
              <a:rPr lang="en-US" dirty="0"/>
              <a:t> cu </a:t>
            </a:r>
            <a:r>
              <a:rPr lang="en-US" dirty="0" err="1"/>
              <a:t>raportul</a:t>
            </a:r>
            <a:r>
              <a:rPr lang="en-US" dirty="0"/>
              <a:t> N_2/N_1 =4,7 </a:t>
            </a:r>
            <a:r>
              <a:rPr lang="en-US" dirty="0" err="1"/>
              <a:t>inductanța</a:t>
            </a:r>
            <a:r>
              <a:rPr lang="en-US" dirty="0"/>
              <a:t> de </a:t>
            </a:r>
            <a:r>
              <a:rPr lang="en-US" dirty="0" err="1"/>
              <a:t>magnetizare</a:t>
            </a:r>
            <a:r>
              <a:rPr lang="en-US" dirty="0"/>
              <a:t> LM = 500uH , </a:t>
            </a:r>
            <a:r>
              <a:rPr lang="en-US" dirty="0" err="1"/>
              <a:t>capacitatea</a:t>
            </a:r>
            <a:r>
              <a:rPr lang="en-US" dirty="0"/>
              <a:t> de la </a:t>
            </a:r>
            <a:r>
              <a:rPr lang="en-US" dirty="0" err="1"/>
              <a:t>ieşire</a:t>
            </a:r>
            <a:r>
              <a:rPr lang="en-US" dirty="0"/>
              <a:t> C = 100uF , </a:t>
            </a:r>
            <a:r>
              <a:rPr lang="en-US" dirty="0" err="1"/>
              <a:t>iar</a:t>
            </a:r>
            <a:r>
              <a:rPr lang="en-US" dirty="0"/>
              <a:t> </a:t>
            </a:r>
            <a:r>
              <a:rPr lang="en-US" dirty="0" err="1"/>
              <a:t>rezistența</a:t>
            </a:r>
            <a:r>
              <a:rPr lang="en-US" dirty="0"/>
              <a:t> </a:t>
            </a:r>
            <a:r>
              <a:rPr lang="en-US" dirty="0" err="1"/>
              <a:t>în</a:t>
            </a:r>
            <a:r>
              <a:rPr lang="en-US" dirty="0"/>
              <a:t> </a:t>
            </a:r>
            <a:r>
              <a:rPr lang="en-US" dirty="0" err="1"/>
              <a:t>conducție</a:t>
            </a:r>
            <a:r>
              <a:rPr lang="en-US" dirty="0"/>
              <a:t> a </a:t>
            </a:r>
            <a:r>
              <a:rPr lang="en-US" dirty="0" err="1"/>
              <a:t>tranzistorului</a:t>
            </a:r>
            <a:r>
              <a:rPr lang="en-US" dirty="0"/>
              <a:t> de 15 m</a:t>
            </a:r>
            <a:r>
              <a:rPr lang="el-GR" dirty="0"/>
              <a:t>Ω. </a:t>
            </a:r>
            <a:r>
              <a:rPr lang="en-US" dirty="0" err="1"/>
              <a:t>Frecvenţa</a:t>
            </a:r>
            <a:r>
              <a:rPr lang="en-US" dirty="0"/>
              <a:t> de </a:t>
            </a:r>
            <a:r>
              <a:rPr lang="en-US" dirty="0" err="1"/>
              <a:t>comutaţie</a:t>
            </a:r>
            <a:r>
              <a:rPr lang="en-US" dirty="0"/>
              <a:t> </a:t>
            </a:r>
            <a:r>
              <a:rPr lang="en-US" dirty="0" err="1"/>
              <a:t>este</a:t>
            </a:r>
            <a:r>
              <a:rPr lang="en-US" dirty="0"/>
              <a:t> fs = 40kHz .</a:t>
            </a:r>
          </a:p>
          <a:p>
            <a:r>
              <a:rPr lang="en-US" dirty="0"/>
              <a:t>	</a:t>
            </a:r>
            <a:r>
              <a:rPr lang="en-US" dirty="0" err="1"/>
              <a:t>Tensiunea</a:t>
            </a:r>
            <a:r>
              <a:rPr lang="en-US" dirty="0"/>
              <a:t> de </a:t>
            </a:r>
            <a:r>
              <a:rPr lang="en-US" dirty="0" err="1"/>
              <a:t>ieşire</a:t>
            </a:r>
            <a:r>
              <a:rPr lang="en-US" dirty="0"/>
              <a:t> se </a:t>
            </a:r>
            <a:r>
              <a:rPr lang="en-US" dirty="0" err="1"/>
              <a:t>presupune</a:t>
            </a:r>
            <a:r>
              <a:rPr lang="en-US" dirty="0"/>
              <a:t> </a:t>
            </a:r>
            <a:r>
              <a:rPr lang="en-US" dirty="0" err="1"/>
              <a:t>stabilizată</a:t>
            </a:r>
            <a:r>
              <a:rPr lang="en-US" dirty="0"/>
              <a:t> la </a:t>
            </a:r>
            <a:r>
              <a:rPr lang="en-US" dirty="0" err="1"/>
              <a:t>valoarea</a:t>
            </a:r>
            <a:r>
              <a:rPr lang="en-US" dirty="0"/>
              <a:t> de 24V </a:t>
            </a:r>
            <a:r>
              <a:rPr lang="en-US" dirty="0" err="1"/>
              <a:t>printr</a:t>
            </a:r>
            <a:r>
              <a:rPr lang="en-US" dirty="0"/>
              <a:t>-o </a:t>
            </a:r>
            <a:r>
              <a:rPr lang="en-US" dirty="0" err="1"/>
              <a:t>buclă</a:t>
            </a:r>
            <a:r>
              <a:rPr lang="en-US" dirty="0"/>
              <a:t> de </a:t>
            </a:r>
            <a:r>
              <a:rPr lang="en-US" dirty="0" err="1"/>
              <a:t>reacţie</a:t>
            </a:r>
            <a:r>
              <a:rPr lang="en-US" dirty="0"/>
              <a:t> </a:t>
            </a:r>
            <a:r>
              <a:rPr lang="en-US" dirty="0" err="1"/>
              <a:t>negativă</a:t>
            </a:r>
            <a:r>
              <a:rPr lang="en-US" dirty="0"/>
              <a:t>. </a:t>
            </a:r>
          </a:p>
          <a:p>
            <a:endParaRPr lang="en-US" dirty="0"/>
          </a:p>
        </p:txBody>
      </p:sp>
      <p:sp>
        <p:nvSpPr>
          <p:cNvPr id="12" name="TextBox 11">
            <a:extLst>
              <a:ext uri="{FF2B5EF4-FFF2-40B4-BE49-F238E27FC236}">
                <a16:creationId xmlns:a16="http://schemas.microsoft.com/office/drawing/2014/main" id="{CA0A894C-C3B3-5F34-EF3A-18C62EF96672}"/>
              </a:ext>
            </a:extLst>
          </p:cNvPr>
          <p:cNvSpPr txBox="1"/>
          <p:nvPr/>
        </p:nvSpPr>
        <p:spPr>
          <a:xfrm>
            <a:off x="1484671" y="3244334"/>
            <a:ext cx="2664542" cy="369332"/>
          </a:xfrm>
          <a:prstGeom prst="rect">
            <a:avLst/>
          </a:prstGeom>
          <a:noFill/>
        </p:spPr>
        <p:txBody>
          <a:bodyPr wrap="square" rtlCol="0">
            <a:spAutoFit/>
          </a:bodyPr>
          <a:lstStyle/>
          <a:p>
            <a:r>
              <a:rPr lang="en-US" dirty="0"/>
              <a:t>Schema </a:t>
            </a:r>
            <a:r>
              <a:rPr lang="en-US" dirty="0" err="1"/>
              <a:t>Convertorului</a:t>
            </a:r>
            <a:r>
              <a:rPr lang="en-US" dirty="0"/>
              <a:t>: </a:t>
            </a:r>
          </a:p>
        </p:txBody>
      </p:sp>
      <p:sp>
        <p:nvSpPr>
          <p:cNvPr id="13" name="TextBox 12">
            <a:extLst>
              <a:ext uri="{FF2B5EF4-FFF2-40B4-BE49-F238E27FC236}">
                <a16:creationId xmlns:a16="http://schemas.microsoft.com/office/drawing/2014/main" id="{A8CF8F86-2DC1-5D3D-0BC5-40919910B416}"/>
              </a:ext>
            </a:extLst>
          </p:cNvPr>
          <p:cNvSpPr txBox="1"/>
          <p:nvPr/>
        </p:nvSpPr>
        <p:spPr>
          <a:xfrm>
            <a:off x="1799303" y="4463845"/>
            <a:ext cx="3775587" cy="369332"/>
          </a:xfrm>
          <a:prstGeom prst="rect">
            <a:avLst/>
          </a:prstGeom>
          <a:noFill/>
        </p:spPr>
        <p:txBody>
          <a:bodyPr wrap="square" rtlCol="0">
            <a:spAutoFit/>
          </a:bodyPr>
          <a:lstStyle/>
          <a:p>
            <a:r>
              <a:rPr lang="en-US" dirty="0"/>
              <a:t>*Si-</a:t>
            </a:r>
            <a:r>
              <a:rPr lang="en-US" dirty="0" err="1"/>
              <a:t>aici</a:t>
            </a:r>
            <a:r>
              <a:rPr lang="en-US" dirty="0"/>
              <a:t> </a:t>
            </a:r>
            <a:r>
              <a:rPr lang="en-US" dirty="0" err="1"/>
              <a:t>talentul</a:t>
            </a:r>
            <a:r>
              <a:rPr lang="en-US" dirty="0"/>
              <a:t> tau*</a:t>
            </a:r>
          </a:p>
        </p:txBody>
      </p:sp>
    </p:spTree>
    <p:extLst>
      <p:ext uri="{BB962C8B-B14F-4D97-AF65-F5344CB8AC3E}">
        <p14:creationId xmlns:p14="http://schemas.microsoft.com/office/powerpoint/2010/main" val="3750864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2FF318-5B43-27AC-6CE8-17E47289B008}"/>
              </a:ext>
            </a:extLst>
          </p:cNvPr>
          <p:cNvSpPr txBox="1"/>
          <p:nvPr/>
        </p:nvSpPr>
        <p:spPr>
          <a:xfrm>
            <a:off x="560439" y="412955"/>
            <a:ext cx="6184490" cy="369332"/>
          </a:xfrm>
          <a:prstGeom prst="rect">
            <a:avLst/>
          </a:prstGeom>
          <a:noFill/>
        </p:spPr>
        <p:txBody>
          <a:bodyPr wrap="square" rtlCol="0">
            <a:spAutoFit/>
          </a:bodyPr>
          <a:lstStyle/>
          <a:p>
            <a:r>
              <a:rPr lang="en-US" dirty="0" err="1"/>
              <a:t>Punctul</a:t>
            </a:r>
            <a:r>
              <a:rPr lang="en-US" dirty="0"/>
              <a:t> a) </a:t>
            </a:r>
            <a:r>
              <a:rPr lang="ro-RO" dirty="0"/>
              <a:t>Deduceţi literal matricile de stare ale convertorului.</a:t>
            </a:r>
            <a:endParaRPr lang="en-US" dirty="0"/>
          </a:p>
        </p:txBody>
      </p:sp>
      <p:sp>
        <p:nvSpPr>
          <p:cNvPr id="3" name="TextBox 2">
            <a:extLst>
              <a:ext uri="{FF2B5EF4-FFF2-40B4-BE49-F238E27FC236}">
                <a16:creationId xmlns:a16="http://schemas.microsoft.com/office/drawing/2014/main" id="{B03325B2-A7F8-1D3F-A80E-DA3C937550DF}"/>
              </a:ext>
            </a:extLst>
          </p:cNvPr>
          <p:cNvSpPr txBox="1"/>
          <p:nvPr/>
        </p:nvSpPr>
        <p:spPr>
          <a:xfrm>
            <a:off x="1514168" y="1297858"/>
            <a:ext cx="5230761" cy="369332"/>
          </a:xfrm>
          <a:prstGeom prst="rect">
            <a:avLst/>
          </a:prstGeom>
          <a:noFill/>
        </p:spPr>
        <p:txBody>
          <a:bodyPr wrap="square" rtlCol="0">
            <a:spAutoFit/>
          </a:bodyPr>
          <a:lstStyle/>
          <a:p>
            <a:r>
              <a:rPr lang="en-US" dirty="0"/>
              <a:t>*</a:t>
            </a:r>
            <a:r>
              <a:rPr lang="en-US" dirty="0" err="1"/>
              <a:t>aici</a:t>
            </a:r>
            <a:r>
              <a:rPr lang="en-US" dirty="0"/>
              <a:t> </a:t>
            </a:r>
            <a:r>
              <a:rPr lang="en-US" dirty="0" err="1"/>
              <a:t>iti</a:t>
            </a:r>
            <a:r>
              <a:rPr lang="en-US" dirty="0"/>
              <a:t> </a:t>
            </a:r>
            <a:r>
              <a:rPr lang="en-US" dirty="0" err="1"/>
              <a:t>faci</a:t>
            </a:r>
            <a:r>
              <a:rPr lang="en-US" dirty="0"/>
              <a:t> </a:t>
            </a:r>
            <a:r>
              <a:rPr lang="en-US" dirty="0" err="1"/>
              <a:t>tu</a:t>
            </a:r>
            <a:r>
              <a:rPr lang="en-US" dirty="0"/>
              <a:t> </a:t>
            </a:r>
            <a:r>
              <a:rPr lang="en-US" dirty="0" err="1"/>
              <a:t>talentul</a:t>
            </a:r>
            <a:r>
              <a:rPr lang="en-US" dirty="0"/>
              <a:t>*</a:t>
            </a:r>
          </a:p>
        </p:txBody>
      </p:sp>
    </p:spTree>
    <p:extLst>
      <p:ext uri="{BB962C8B-B14F-4D97-AF65-F5344CB8AC3E}">
        <p14:creationId xmlns:p14="http://schemas.microsoft.com/office/powerpoint/2010/main" val="1918340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9438ED-FD56-A6F2-F45C-09C07FCF3171}"/>
              </a:ext>
            </a:extLst>
          </p:cNvPr>
          <p:cNvSpPr txBox="1"/>
          <p:nvPr/>
        </p:nvSpPr>
        <p:spPr>
          <a:xfrm>
            <a:off x="481781" y="353961"/>
            <a:ext cx="11228438" cy="646331"/>
          </a:xfrm>
          <a:prstGeom prst="rect">
            <a:avLst/>
          </a:prstGeom>
          <a:noFill/>
        </p:spPr>
        <p:txBody>
          <a:bodyPr wrap="square" rtlCol="0">
            <a:spAutoFit/>
          </a:bodyPr>
          <a:lstStyle/>
          <a:p>
            <a:r>
              <a:rPr lang="en-US" dirty="0" err="1"/>
              <a:t>Punctul</a:t>
            </a:r>
            <a:r>
              <a:rPr lang="en-US" dirty="0"/>
              <a:t> b) </a:t>
            </a:r>
            <a:r>
              <a:rPr lang="ro-RO" dirty="0"/>
              <a:t>Deduceţi valoarea maximă pe care o poate avea tensiunea în conducție a diodei astfel încât randamentul să fie mai bun decât 82% pe întreg domeniul curentului de sarcină.</a:t>
            </a:r>
            <a:endParaRPr lang="en-US" dirty="0"/>
          </a:p>
        </p:txBody>
      </p:sp>
      <p:sp>
        <p:nvSpPr>
          <p:cNvPr id="3" name="TextBox 2">
            <a:extLst>
              <a:ext uri="{FF2B5EF4-FFF2-40B4-BE49-F238E27FC236}">
                <a16:creationId xmlns:a16="http://schemas.microsoft.com/office/drawing/2014/main" id="{9408DF02-0F79-8885-6F55-76C2ED841EA5}"/>
              </a:ext>
            </a:extLst>
          </p:cNvPr>
          <p:cNvSpPr txBox="1"/>
          <p:nvPr/>
        </p:nvSpPr>
        <p:spPr>
          <a:xfrm>
            <a:off x="481781" y="2318662"/>
            <a:ext cx="10884309" cy="923330"/>
          </a:xfrm>
          <a:prstGeom prst="rect">
            <a:avLst/>
          </a:prstGeom>
          <a:noFill/>
        </p:spPr>
        <p:txBody>
          <a:bodyPr wrap="square" rtlCol="0">
            <a:spAutoFit/>
          </a:bodyPr>
          <a:lstStyle/>
          <a:p>
            <a:pPr marL="285750" indent="-285750">
              <a:buFont typeface="Arial" panose="020B0604020202020204" pitchFamily="34" charset="0"/>
              <a:buChar char="•"/>
            </a:pPr>
            <a:r>
              <a:rPr lang="en-US" dirty="0"/>
              <a:t>Am </a:t>
            </a:r>
            <a:r>
              <a:rPr lang="en-US" dirty="0" err="1"/>
              <a:t>determinat</a:t>
            </a:r>
            <a:r>
              <a:rPr lang="en-US" dirty="0"/>
              <a:t> D </a:t>
            </a:r>
            <a:r>
              <a:rPr lang="en-US" dirty="0" err="1"/>
              <a:t>prin</a:t>
            </a:r>
            <a:r>
              <a:rPr lang="en-US" dirty="0"/>
              <a:t> </a:t>
            </a:r>
            <a:r>
              <a:rPr lang="en-US" dirty="0" err="1"/>
              <a:t>rezolvarea</a:t>
            </a:r>
            <a:r>
              <a:rPr lang="en-US" dirty="0"/>
              <a:t> </a:t>
            </a:r>
            <a:r>
              <a:rPr lang="en-US" dirty="0" err="1"/>
              <a:t>simbolica</a:t>
            </a:r>
            <a:r>
              <a:rPr lang="en-US" dirty="0"/>
              <a:t> a </a:t>
            </a:r>
            <a:r>
              <a:rPr lang="en-US" dirty="0" err="1"/>
              <a:t>ecuatiei</a:t>
            </a:r>
            <a:r>
              <a:rPr lang="en-US" dirty="0"/>
              <a:t>: n * </a:t>
            </a:r>
            <a:r>
              <a:rPr lang="en-US" dirty="0" err="1"/>
              <a:t>Mideal</a:t>
            </a:r>
            <a:r>
              <a:rPr lang="en-US" dirty="0"/>
              <a:t> (D) = </a:t>
            </a:r>
            <a:r>
              <a:rPr lang="en-US" dirty="0" err="1"/>
              <a:t>Mimpus</a:t>
            </a:r>
            <a:r>
              <a:rPr lang="en-US" dirty="0"/>
              <a:t>.</a:t>
            </a:r>
          </a:p>
          <a:p>
            <a:pPr marL="285750" indent="-285750">
              <a:buFont typeface="Arial" panose="020B0604020202020204" pitchFamily="34" charset="0"/>
              <a:buChar char="•"/>
            </a:pPr>
            <a:r>
              <a:rPr lang="en-US" dirty="0"/>
              <a:t>Am </a:t>
            </a:r>
            <a:r>
              <a:rPr lang="en-US" dirty="0" err="1"/>
              <a:t>egalat</a:t>
            </a:r>
            <a:r>
              <a:rPr lang="en-US" dirty="0"/>
              <a:t> </a:t>
            </a:r>
            <a:r>
              <a:rPr lang="en-US" dirty="0" err="1"/>
              <a:t>ecuația</a:t>
            </a:r>
            <a:r>
              <a:rPr lang="en-US" dirty="0"/>
              <a:t> </a:t>
            </a:r>
            <a:r>
              <a:rPr lang="en-US" dirty="0" err="1"/>
              <a:t>simbolică</a:t>
            </a:r>
            <a:r>
              <a:rPr lang="en-US" dirty="0"/>
              <a:t> a </a:t>
            </a:r>
            <a:r>
              <a:rPr lang="en-US" dirty="0" err="1"/>
              <a:t>tensiunii</a:t>
            </a:r>
            <a:r>
              <a:rPr lang="en-US" dirty="0"/>
              <a:t> de </a:t>
            </a:r>
            <a:r>
              <a:rPr lang="en-US" dirty="0" err="1"/>
              <a:t>ieșire</a:t>
            </a:r>
            <a:r>
              <a:rPr lang="en-US" dirty="0"/>
              <a:t> </a:t>
            </a:r>
            <a:r>
              <a:rPr lang="en-US" dirty="0" err="1"/>
              <a:t>rezultate</a:t>
            </a:r>
            <a:r>
              <a:rPr lang="en-US" dirty="0"/>
              <a:t> (y(1)) cu </a:t>
            </a:r>
            <a:r>
              <a:rPr lang="en-US" dirty="0" err="1"/>
              <a:t>valoarea</a:t>
            </a:r>
            <a:r>
              <a:rPr lang="en-US" dirty="0"/>
              <a:t> </a:t>
            </a:r>
            <a:r>
              <a:rPr lang="en-US" dirty="0" err="1"/>
              <a:t>dorită</a:t>
            </a:r>
            <a:r>
              <a:rPr lang="en-US" dirty="0"/>
              <a:t> (24V) </a:t>
            </a:r>
            <a:r>
              <a:rPr lang="en-US" dirty="0" err="1"/>
              <a:t>și</a:t>
            </a:r>
            <a:r>
              <a:rPr lang="en-US" dirty="0"/>
              <a:t> am </a:t>
            </a:r>
            <a:r>
              <a:rPr lang="en-US" dirty="0" err="1"/>
              <a:t>rezolvat</a:t>
            </a:r>
            <a:r>
              <a:rPr lang="en-US" dirty="0"/>
              <a:t> </a:t>
            </a:r>
            <a:r>
              <a:rPr lang="en-US" dirty="0" err="1"/>
              <a:t>ecuația</a:t>
            </a:r>
            <a:r>
              <a:rPr lang="en-US" dirty="0"/>
              <a:t>: </a:t>
            </a:r>
            <a:r>
              <a:rPr lang="es-ES" dirty="0" err="1"/>
              <a:t>solve</a:t>
            </a:r>
            <a:r>
              <a:rPr lang="es-ES" dirty="0"/>
              <a:t>(y(1)-</a:t>
            </a:r>
            <a:r>
              <a:rPr lang="es-ES" dirty="0" err="1"/>
              <a:t>Voimpus</a:t>
            </a:r>
            <a:r>
              <a:rPr lang="es-ES" dirty="0"/>
              <a:t>, </a:t>
            </a:r>
            <a:r>
              <a:rPr lang="es-ES" dirty="0" err="1"/>
              <a:t>Vd</a:t>
            </a:r>
            <a:r>
              <a:rPr lang="es-ES" dirty="0"/>
              <a:t>) in Matlab.</a:t>
            </a:r>
            <a:endParaRPr lang="en-US" dirty="0"/>
          </a:p>
        </p:txBody>
      </p:sp>
      <p:sp>
        <p:nvSpPr>
          <p:cNvPr id="8" name="TextBox 7">
            <a:extLst>
              <a:ext uri="{FF2B5EF4-FFF2-40B4-BE49-F238E27FC236}">
                <a16:creationId xmlns:a16="http://schemas.microsoft.com/office/drawing/2014/main" id="{F4F2E523-828F-FAD4-0BD3-95D157CA59A5}"/>
              </a:ext>
            </a:extLst>
          </p:cNvPr>
          <p:cNvSpPr txBox="1"/>
          <p:nvPr/>
        </p:nvSpPr>
        <p:spPr>
          <a:xfrm>
            <a:off x="481781" y="3841699"/>
            <a:ext cx="3716596" cy="923330"/>
          </a:xfrm>
          <a:prstGeom prst="rect">
            <a:avLst/>
          </a:prstGeom>
          <a:noFill/>
        </p:spPr>
        <p:txBody>
          <a:bodyPr wrap="square" rtlCol="0">
            <a:spAutoFit/>
          </a:bodyPr>
          <a:lstStyle/>
          <a:p>
            <a:r>
              <a:rPr lang="en-US" dirty="0" err="1"/>
              <a:t>Rezultatele</a:t>
            </a:r>
            <a:r>
              <a:rPr lang="en-US" dirty="0"/>
              <a:t> </a:t>
            </a:r>
            <a:r>
              <a:rPr lang="en-US" dirty="0" err="1"/>
              <a:t>numerice</a:t>
            </a:r>
            <a:r>
              <a:rPr lang="en-US" dirty="0"/>
              <a:t>: D = 0.4599</a:t>
            </a:r>
          </a:p>
          <a:p>
            <a:r>
              <a:rPr lang="en-US" dirty="0"/>
              <a:t>				     R = 12 Ohm</a:t>
            </a:r>
          </a:p>
          <a:p>
            <a:r>
              <a:rPr lang="en-US" dirty="0"/>
              <a:t>				     </a:t>
            </a:r>
            <a:r>
              <a:rPr lang="en-US" dirty="0" err="1"/>
              <a:t>Vd</a:t>
            </a:r>
            <a:r>
              <a:rPr lang="en-US" dirty="0"/>
              <a:t> = 2.6701 V</a:t>
            </a:r>
          </a:p>
        </p:txBody>
      </p:sp>
    </p:spTree>
    <p:extLst>
      <p:ext uri="{BB962C8B-B14F-4D97-AF65-F5344CB8AC3E}">
        <p14:creationId xmlns:p14="http://schemas.microsoft.com/office/powerpoint/2010/main" val="3082494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02AF5C-7DD9-EA00-E2E5-380B44FC3814}"/>
              </a:ext>
            </a:extLst>
          </p:cNvPr>
          <p:cNvSpPr txBox="1"/>
          <p:nvPr/>
        </p:nvSpPr>
        <p:spPr>
          <a:xfrm>
            <a:off x="373626" y="314632"/>
            <a:ext cx="11818374" cy="1477328"/>
          </a:xfrm>
          <a:prstGeom prst="rect">
            <a:avLst/>
          </a:prstGeom>
          <a:noFill/>
        </p:spPr>
        <p:txBody>
          <a:bodyPr wrap="square" rtlCol="0">
            <a:spAutoFit/>
          </a:bodyPr>
          <a:lstStyle/>
          <a:p>
            <a:r>
              <a:rPr lang="en-US" dirty="0" err="1"/>
              <a:t>Punctul</a:t>
            </a:r>
            <a:r>
              <a:rPr lang="en-US" dirty="0"/>
              <a:t> c) </a:t>
            </a:r>
            <a:r>
              <a:rPr lang="ro-RO" dirty="0"/>
              <a:t>Pentru tensiunea pe diodă determinată anterior, reprezentaţi dependenţa randamentului de curentul de sarcină în domeniul [1A 2A], apoi calculaţi pierderile de putere pe fiecare element al convertorului la curentul de sarcină la care randamentul este cel mai mic. Care dispozitiv ar trebui înlocuit dacă se doreşte mărirea randamentului în acest punct de funcţionare?</a:t>
            </a:r>
            <a:endParaRPr lang="en-US" dirty="0"/>
          </a:p>
          <a:p>
            <a:endParaRPr lang="en-US" dirty="0"/>
          </a:p>
        </p:txBody>
      </p:sp>
      <p:pic>
        <p:nvPicPr>
          <p:cNvPr id="6" name="Picture 5">
            <a:extLst>
              <a:ext uri="{FF2B5EF4-FFF2-40B4-BE49-F238E27FC236}">
                <a16:creationId xmlns:a16="http://schemas.microsoft.com/office/drawing/2014/main" id="{FC05A332-D8D4-9AB1-4CAE-922FD77D3386}"/>
              </a:ext>
            </a:extLst>
          </p:cNvPr>
          <p:cNvPicPr>
            <a:picLocks noChangeAspect="1"/>
          </p:cNvPicPr>
          <p:nvPr/>
        </p:nvPicPr>
        <p:blipFill>
          <a:blip r:embed="rId2"/>
          <a:stretch>
            <a:fillRect/>
          </a:stretch>
        </p:blipFill>
        <p:spPr>
          <a:xfrm>
            <a:off x="3316846" y="1362156"/>
            <a:ext cx="6211167" cy="4810796"/>
          </a:xfrm>
          <a:prstGeom prst="rect">
            <a:avLst/>
          </a:prstGeom>
        </p:spPr>
      </p:pic>
      <p:sp>
        <p:nvSpPr>
          <p:cNvPr id="7" name="TextBox 6">
            <a:extLst>
              <a:ext uri="{FF2B5EF4-FFF2-40B4-BE49-F238E27FC236}">
                <a16:creationId xmlns:a16="http://schemas.microsoft.com/office/drawing/2014/main" id="{650F7706-B7BC-ACE9-B07B-77B38A8A98BC}"/>
              </a:ext>
            </a:extLst>
          </p:cNvPr>
          <p:cNvSpPr txBox="1"/>
          <p:nvPr/>
        </p:nvSpPr>
        <p:spPr>
          <a:xfrm>
            <a:off x="3434834" y="3391470"/>
            <a:ext cx="498069" cy="461665"/>
          </a:xfrm>
          <a:prstGeom prst="rect">
            <a:avLst/>
          </a:prstGeom>
          <a:noFill/>
        </p:spPr>
        <p:txBody>
          <a:bodyPr wrap="square" rtlCol="0">
            <a:spAutoFit/>
          </a:bodyPr>
          <a:lstStyle/>
          <a:p>
            <a:r>
              <a:rPr lang="en-US" sz="2400" dirty="0">
                <a:solidFill>
                  <a:schemeClr val="bg1"/>
                </a:solidFill>
              </a:rPr>
              <a:t>n</a:t>
            </a:r>
          </a:p>
        </p:txBody>
      </p:sp>
      <p:sp>
        <p:nvSpPr>
          <p:cNvPr id="8" name="TextBox 7">
            <a:extLst>
              <a:ext uri="{FF2B5EF4-FFF2-40B4-BE49-F238E27FC236}">
                <a16:creationId xmlns:a16="http://schemas.microsoft.com/office/drawing/2014/main" id="{E757667B-BB77-4264-A6FC-535B43C74843}"/>
              </a:ext>
            </a:extLst>
          </p:cNvPr>
          <p:cNvSpPr txBox="1"/>
          <p:nvPr/>
        </p:nvSpPr>
        <p:spPr>
          <a:xfrm>
            <a:off x="6282813" y="5772842"/>
            <a:ext cx="698091" cy="400110"/>
          </a:xfrm>
          <a:prstGeom prst="rect">
            <a:avLst/>
          </a:prstGeom>
          <a:noFill/>
        </p:spPr>
        <p:txBody>
          <a:bodyPr wrap="square" rtlCol="0">
            <a:spAutoFit/>
          </a:bodyPr>
          <a:lstStyle/>
          <a:p>
            <a:r>
              <a:rPr lang="en-US" sz="2000" dirty="0">
                <a:solidFill>
                  <a:schemeClr val="bg1"/>
                </a:solidFill>
              </a:rPr>
              <a:t>I(A)</a:t>
            </a:r>
          </a:p>
        </p:txBody>
      </p:sp>
      <p:sp>
        <p:nvSpPr>
          <p:cNvPr id="9" name="TextBox 8">
            <a:extLst>
              <a:ext uri="{FF2B5EF4-FFF2-40B4-BE49-F238E27FC236}">
                <a16:creationId xmlns:a16="http://schemas.microsoft.com/office/drawing/2014/main" id="{20FAAF83-AA19-D3E5-F493-378E524403AD}"/>
              </a:ext>
            </a:extLst>
          </p:cNvPr>
          <p:cNvSpPr txBox="1"/>
          <p:nvPr/>
        </p:nvSpPr>
        <p:spPr>
          <a:xfrm>
            <a:off x="4173709" y="6271111"/>
            <a:ext cx="4497439" cy="369332"/>
          </a:xfrm>
          <a:prstGeom prst="rect">
            <a:avLst/>
          </a:prstGeom>
          <a:noFill/>
        </p:spPr>
        <p:txBody>
          <a:bodyPr wrap="square" rtlCol="0">
            <a:spAutoFit/>
          </a:bodyPr>
          <a:lstStyle/>
          <a:p>
            <a:r>
              <a:rPr lang="en-US" dirty="0" err="1"/>
              <a:t>Randamentul</a:t>
            </a:r>
            <a:r>
              <a:rPr lang="en-US" dirty="0"/>
              <a:t> in </a:t>
            </a:r>
            <a:r>
              <a:rPr lang="en-US" dirty="0" err="1"/>
              <a:t>functie</a:t>
            </a:r>
            <a:r>
              <a:rPr lang="en-US" dirty="0"/>
              <a:t> de </a:t>
            </a:r>
            <a:r>
              <a:rPr lang="en-US" dirty="0" err="1"/>
              <a:t>curentul</a:t>
            </a:r>
            <a:r>
              <a:rPr lang="en-US" dirty="0"/>
              <a:t> de </a:t>
            </a:r>
            <a:r>
              <a:rPr lang="en-US" dirty="0" err="1"/>
              <a:t>sarcina</a:t>
            </a:r>
            <a:endParaRPr lang="en-US" dirty="0"/>
          </a:p>
        </p:txBody>
      </p:sp>
    </p:spTree>
    <p:extLst>
      <p:ext uri="{BB962C8B-B14F-4D97-AF65-F5344CB8AC3E}">
        <p14:creationId xmlns:p14="http://schemas.microsoft.com/office/powerpoint/2010/main" val="4101738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BE7ED3-3444-0312-C1E7-810D080273C7}"/>
              </a:ext>
            </a:extLst>
          </p:cNvPr>
          <p:cNvSpPr txBox="1"/>
          <p:nvPr/>
        </p:nvSpPr>
        <p:spPr>
          <a:xfrm>
            <a:off x="481780" y="1219200"/>
            <a:ext cx="4788310" cy="1200329"/>
          </a:xfrm>
          <a:prstGeom prst="rect">
            <a:avLst/>
          </a:prstGeom>
          <a:noFill/>
        </p:spPr>
        <p:txBody>
          <a:bodyPr wrap="square" rtlCol="0">
            <a:spAutoFit/>
          </a:bodyPr>
          <a:lstStyle/>
          <a:p>
            <a:r>
              <a:rPr lang="en-US" sz="2400" dirty="0" err="1"/>
              <a:t>Pierderile</a:t>
            </a:r>
            <a:r>
              <a:rPr lang="en-US" sz="2400" dirty="0"/>
              <a:t> de </a:t>
            </a:r>
            <a:r>
              <a:rPr lang="en-US" sz="2400" dirty="0" err="1"/>
              <a:t>putere</a:t>
            </a:r>
            <a:r>
              <a:rPr lang="en-US" sz="2400" dirty="0"/>
              <a:t>: </a:t>
            </a:r>
            <a:r>
              <a:rPr lang="en-US" sz="2400" dirty="0" err="1"/>
              <a:t>Pq</a:t>
            </a:r>
            <a:r>
              <a:rPr lang="en-US" sz="2400" dirty="0"/>
              <a:t> = 3.0733 W</a:t>
            </a:r>
          </a:p>
          <a:p>
            <a:r>
              <a:rPr lang="en-US" sz="2400" dirty="0"/>
              <a:t>				            Pd = 5.3401 W</a:t>
            </a:r>
          </a:p>
          <a:p>
            <a:r>
              <a:rPr lang="en-US" sz="2400" dirty="0"/>
              <a:t>				            </a:t>
            </a:r>
            <a:r>
              <a:rPr lang="en-US" sz="2400" dirty="0" err="1"/>
              <a:t>Prg</a:t>
            </a:r>
            <a:r>
              <a:rPr lang="en-US" sz="2400" dirty="0"/>
              <a:t> = 2.1229 W</a:t>
            </a:r>
          </a:p>
        </p:txBody>
      </p:sp>
      <p:sp>
        <p:nvSpPr>
          <p:cNvPr id="5" name="TextBox 4">
            <a:extLst>
              <a:ext uri="{FF2B5EF4-FFF2-40B4-BE49-F238E27FC236}">
                <a16:creationId xmlns:a16="http://schemas.microsoft.com/office/drawing/2014/main" id="{604B4593-F651-0245-83EB-EFA7BEA415B8}"/>
              </a:ext>
            </a:extLst>
          </p:cNvPr>
          <p:cNvSpPr txBox="1"/>
          <p:nvPr/>
        </p:nvSpPr>
        <p:spPr>
          <a:xfrm>
            <a:off x="481779" y="3429000"/>
            <a:ext cx="9655279" cy="830997"/>
          </a:xfrm>
          <a:prstGeom prst="rect">
            <a:avLst/>
          </a:prstGeom>
          <a:noFill/>
        </p:spPr>
        <p:txBody>
          <a:bodyPr wrap="square" rtlCol="0">
            <a:spAutoFit/>
          </a:bodyPr>
          <a:lstStyle/>
          <a:p>
            <a:r>
              <a:rPr lang="en-US" sz="2400" dirty="0" err="1"/>
              <a:t>Pentru</a:t>
            </a:r>
            <a:r>
              <a:rPr lang="en-US" sz="2400" dirty="0"/>
              <a:t> </a:t>
            </a:r>
            <a:r>
              <a:rPr lang="en-US" sz="2400" dirty="0" err="1"/>
              <a:t>marirea</a:t>
            </a:r>
            <a:r>
              <a:rPr lang="en-US" sz="2400" dirty="0"/>
              <a:t> </a:t>
            </a:r>
            <a:r>
              <a:rPr lang="en-US" sz="2400" dirty="0" err="1"/>
              <a:t>randamentului</a:t>
            </a:r>
            <a:r>
              <a:rPr lang="en-US" sz="2400" dirty="0"/>
              <a:t> in </a:t>
            </a:r>
            <a:r>
              <a:rPr lang="en-US" sz="2400" dirty="0" err="1"/>
              <a:t>acest</a:t>
            </a:r>
            <a:r>
              <a:rPr lang="en-US" sz="2400" dirty="0"/>
              <a:t> </a:t>
            </a:r>
            <a:r>
              <a:rPr lang="en-US" sz="2400" dirty="0" err="1"/>
              <a:t>punct</a:t>
            </a:r>
            <a:r>
              <a:rPr lang="en-US" sz="2400" dirty="0"/>
              <a:t> de </a:t>
            </a:r>
            <a:r>
              <a:rPr lang="en-US" sz="2400" dirty="0" err="1"/>
              <a:t>functionare</a:t>
            </a:r>
            <a:r>
              <a:rPr lang="en-US" sz="2400" dirty="0"/>
              <a:t> de </a:t>
            </a:r>
            <a:r>
              <a:rPr lang="en-US" sz="2400" dirty="0" err="1"/>
              <a:t>functionare</a:t>
            </a:r>
            <a:r>
              <a:rPr lang="en-US" sz="2400" dirty="0"/>
              <a:t>, </a:t>
            </a:r>
            <a:r>
              <a:rPr lang="en-US" sz="2400" dirty="0" err="1"/>
              <a:t>ar</a:t>
            </a:r>
            <a:r>
              <a:rPr lang="en-US" sz="2400" dirty="0"/>
              <a:t> </a:t>
            </a:r>
            <a:r>
              <a:rPr lang="en-US" sz="2400" dirty="0" err="1"/>
              <a:t>trebui</a:t>
            </a:r>
            <a:r>
              <a:rPr lang="en-US" sz="2400" dirty="0"/>
              <a:t> </a:t>
            </a:r>
            <a:r>
              <a:rPr lang="en-US" sz="2400" dirty="0" err="1"/>
              <a:t>inlocuita</a:t>
            </a:r>
            <a:r>
              <a:rPr lang="en-US" sz="2400" dirty="0"/>
              <a:t>: </a:t>
            </a:r>
            <a:r>
              <a:rPr lang="en-US" sz="2400" b="1" dirty="0" err="1"/>
              <a:t>Dioda</a:t>
            </a:r>
            <a:endParaRPr lang="en-US" sz="2400" b="1" dirty="0"/>
          </a:p>
        </p:txBody>
      </p:sp>
    </p:spTree>
    <p:extLst>
      <p:ext uri="{BB962C8B-B14F-4D97-AF65-F5344CB8AC3E}">
        <p14:creationId xmlns:p14="http://schemas.microsoft.com/office/powerpoint/2010/main" val="2463328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D95C9A-6FAA-DD49-F6CC-7AB129F4ACD1}"/>
              </a:ext>
            </a:extLst>
          </p:cNvPr>
          <p:cNvSpPr txBox="1"/>
          <p:nvPr/>
        </p:nvSpPr>
        <p:spPr>
          <a:xfrm>
            <a:off x="186813" y="294968"/>
            <a:ext cx="12005187" cy="646331"/>
          </a:xfrm>
          <a:prstGeom prst="rect">
            <a:avLst/>
          </a:prstGeom>
          <a:noFill/>
        </p:spPr>
        <p:txBody>
          <a:bodyPr wrap="square" rtlCol="0">
            <a:spAutoFit/>
          </a:bodyPr>
          <a:lstStyle/>
          <a:p>
            <a:r>
              <a:rPr lang="en-US" dirty="0" err="1"/>
              <a:t>Punctul</a:t>
            </a:r>
            <a:r>
              <a:rPr lang="en-US" dirty="0"/>
              <a:t> d) </a:t>
            </a:r>
            <a:r>
              <a:rPr lang="en-US" dirty="0" err="1"/>
              <a:t>Calculați</a:t>
            </a:r>
            <a:r>
              <a:rPr lang="en-US" dirty="0"/>
              <a:t> cu </a:t>
            </a:r>
            <a:r>
              <a:rPr lang="en-US" dirty="0" err="1"/>
              <a:t>ce</a:t>
            </a:r>
            <a:r>
              <a:rPr lang="en-US" dirty="0"/>
              <a:t> </a:t>
            </a:r>
            <a:r>
              <a:rPr lang="en-US" dirty="0" err="1"/>
              <a:t>amplitudine</a:t>
            </a:r>
            <a:r>
              <a:rPr lang="en-US" dirty="0"/>
              <a:t> se </a:t>
            </a:r>
            <a:r>
              <a:rPr lang="en-US" dirty="0" err="1"/>
              <a:t>va</a:t>
            </a:r>
            <a:r>
              <a:rPr lang="en-US" dirty="0"/>
              <a:t> </a:t>
            </a:r>
            <a:r>
              <a:rPr lang="en-US" dirty="0" err="1"/>
              <a:t>regăsi</a:t>
            </a:r>
            <a:r>
              <a:rPr lang="en-US" dirty="0"/>
              <a:t> la </a:t>
            </a:r>
            <a:r>
              <a:rPr lang="en-US" dirty="0" err="1"/>
              <a:t>ieșire</a:t>
            </a:r>
            <a:r>
              <a:rPr lang="en-US" dirty="0"/>
              <a:t> o </a:t>
            </a:r>
            <a:r>
              <a:rPr lang="en-US" dirty="0" err="1"/>
              <a:t>perturbație</a:t>
            </a:r>
            <a:r>
              <a:rPr lang="en-US" dirty="0"/>
              <a:t> de 0.3Vvv </a:t>
            </a:r>
            <a:r>
              <a:rPr lang="en-US" dirty="0" err="1"/>
              <a:t>și</a:t>
            </a:r>
            <a:r>
              <a:rPr lang="en-US" dirty="0"/>
              <a:t> 1 kHz </a:t>
            </a:r>
            <a:r>
              <a:rPr lang="en-US" dirty="0" err="1"/>
              <a:t>în</a:t>
            </a:r>
            <a:r>
              <a:rPr lang="en-US" dirty="0"/>
              <a:t> </a:t>
            </a:r>
            <a:r>
              <a:rPr lang="en-US" dirty="0" err="1"/>
              <a:t>tensiunea</a:t>
            </a:r>
            <a:r>
              <a:rPr lang="en-US" dirty="0"/>
              <a:t> de </a:t>
            </a:r>
            <a:r>
              <a:rPr lang="en-US" dirty="0" err="1"/>
              <a:t>alimentare</a:t>
            </a:r>
            <a:r>
              <a:rPr lang="en-US" dirty="0"/>
              <a:t>. Care </a:t>
            </a:r>
            <a:r>
              <a:rPr lang="en-US" dirty="0" err="1"/>
              <a:t>este</a:t>
            </a:r>
            <a:r>
              <a:rPr lang="en-US" dirty="0"/>
              <a:t> </a:t>
            </a:r>
            <a:r>
              <a:rPr lang="en-US" dirty="0" err="1"/>
              <a:t>cea</a:t>
            </a:r>
            <a:r>
              <a:rPr lang="en-US" dirty="0"/>
              <a:t> </a:t>
            </a:r>
            <a:r>
              <a:rPr lang="en-US" dirty="0" err="1"/>
              <a:t>mai</a:t>
            </a:r>
            <a:r>
              <a:rPr lang="en-US" dirty="0"/>
              <a:t> “</a:t>
            </a:r>
            <a:r>
              <a:rPr lang="en-US" dirty="0" err="1"/>
              <a:t>vulnerabilă</a:t>
            </a:r>
            <a:r>
              <a:rPr lang="en-US" dirty="0"/>
              <a:t>” </a:t>
            </a:r>
            <a:r>
              <a:rPr lang="en-US" dirty="0" err="1"/>
              <a:t>frecvenţă</a:t>
            </a:r>
            <a:r>
              <a:rPr lang="en-US" dirty="0"/>
              <a:t> din </a:t>
            </a:r>
            <a:r>
              <a:rPr lang="en-US" dirty="0" err="1"/>
              <a:t>punct</a:t>
            </a:r>
            <a:r>
              <a:rPr lang="en-US" dirty="0"/>
              <a:t> de </a:t>
            </a:r>
            <a:r>
              <a:rPr lang="en-US" dirty="0" err="1"/>
              <a:t>vedere</a:t>
            </a:r>
            <a:r>
              <a:rPr lang="en-US" dirty="0"/>
              <a:t> al </a:t>
            </a:r>
            <a:r>
              <a:rPr lang="en-US" dirty="0" err="1"/>
              <a:t>unei</a:t>
            </a:r>
            <a:r>
              <a:rPr lang="en-US" dirty="0"/>
              <a:t> </a:t>
            </a:r>
            <a:r>
              <a:rPr lang="en-US" dirty="0" err="1"/>
              <a:t>perturbaţii</a:t>
            </a:r>
            <a:r>
              <a:rPr lang="en-US" dirty="0"/>
              <a:t> </a:t>
            </a:r>
            <a:r>
              <a:rPr lang="en-US" dirty="0" err="1"/>
              <a:t>apărute</a:t>
            </a:r>
            <a:r>
              <a:rPr lang="en-US" dirty="0"/>
              <a:t> </a:t>
            </a:r>
            <a:r>
              <a:rPr lang="en-US" dirty="0" err="1"/>
              <a:t>în</a:t>
            </a:r>
            <a:r>
              <a:rPr lang="en-US" dirty="0"/>
              <a:t> </a:t>
            </a:r>
            <a:r>
              <a:rPr lang="en-US" dirty="0" err="1"/>
              <a:t>tensiunea</a:t>
            </a:r>
            <a:r>
              <a:rPr lang="en-US" dirty="0"/>
              <a:t> de </a:t>
            </a:r>
            <a:r>
              <a:rPr lang="en-US" dirty="0" err="1"/>
              <a:t>alimentare</a:t>
            </a:r>
            <a:r>
              <a:rPr lang="en-US" dirty="0"/>
              <a:t>?</a:t>
            </a:r>
          </a:p>
        </p:txBody>
      </p:sp>
      <p:sp>
        <p:nvSpPr>
          <p:cNvPr id="3" name="TextBox 2">
            <a:extLst>
              <a:ext uri="{FF2B5EF4-FFF2-40B4-BE49-F238E27FC236}">
                <a16:creationId xmlns:a16="http://schemas.microsoft.com/office/drawing/2014/main" id="{405CE05B-3C82-776E-670B-6B3D9E0CB2A4}"/>
              </a:ext>
            </a:extLst>
          </p:cNvPr>
          <p:cNvSpPr txBox="1"/>
          <p:nvPr/>
        </p:nvSpPr>
        <p:spPr>
          <a:xfrm>
            <a:off x="186813" y="1519127"/>
            <a:ext cx="3923072" cy="369332"/>
          </a:xfrm>
          <a:prstGeom prst="rect">
            <a:avLst/>
          </a:prstGeom>
          <a:noFill/>
        </p:spPr>
        <p:txBody>
          <a:bodyPr wrap="square" rtlCol="0">
            <a:spAutoFit/>
          </a:bodyPr>
          <a:lstStyle/>
          <a:p>
            <a:r>
              <a:rPr lang="en-US" dirty="0" err="1"/>
              <a:t>Amplitudinea</a:t>
            </a:r>
            <a:r>
              <a:rPr lang="en-US" dirty="0"/>
              <a:t> </a:t>
            </a:r>
            <a:r>
              <a:rPr lang="en-US" dirty="0" err="1"/>
              <a:t>Vop</a:t>
            </a:r>
            <a:r>
              <a:rPr lang="en-US" dirty="0"/>
              <a:t> = 0.008 V = 8 mV</a:t>
            </a:r>
          </a:p>
        </p:txBody>
      </p:sp>
      <p:pic>
        <p:nvPicPr>
          <p:cNvPr id="5" name="Picture 4">
            <a:extLst>
              <a:ext uri="{FF2B5EF4-FFF2-40B4-BE49-F238E27FC236}">
                <a16:creationId xmlns:a16="http://schemas.microsoft.com/office/drawing/2014/main" id="{4961D1FC-F2C4-3C14-66B6-5434575E6F01}"/>
              </a:ext>
            </a:extLst>
          </p:cNvPr>
          <p:cNvPicPr>
            <a:picLocks noChangeAspect="1"/>
          </p:cNvPicPr>
          <p:nvPr/>
        </p:nvPicPr>
        <p:blipFill>
          <a:blip r:embed="rId2"/>
          <a:stretch>
            <a:fillRect/>
          </a:stretch>
        </p:blipFill>
        <p:spPr>
          <a:xfrm>
            <a:off x="5211098" y="1101212"/>
            <a:ext cx="5125991" cy="3844493"/>
          </a:xfrm>
          <a:prstGeom prst="rect">
            <a:avLst/>
          </a:prstGeom>
        </p:spPr>
      </p:pic>
      <p:sp>
        <p:nvSpPr>
          <p:cNvPr id="6" name="TextBox 5">
            <a:extLst>
              <a:ext uri="{FF2B5EF4-FFF2-40B4-BE49-F238E27FC236}">
                <a16:creationId xmlns:a16="http://schemas.microsoft.com/office/drawing/2014/main" id="{E7689A10-B577-4A89-6C87-780C55155088}"/>
              </a:ext>
            </a:extLst>
          </p:cNvPr>
          <p:cNvSpPr txBox="1"/>
          <p:nvPr/>
        </p:nvSpPr>
        <p:spPr>
          <a:xfrm>
            <a:off x="176982" y="2471482"/>
            <a:ext cx="4483510" cy="1200329"/>
          </a:xfrm>
          <a:prstGeom prst="rect">
            <a:avLst/>
          </a:prstGeom>
          <a:noFill/>
        </p:spPr>
        <p:txBody>
          <a:bodyPr wrap="square" rtlCol="0">
            <a:spAutoFit/>
          </a:bodyPr>
          <a:lstStyle/>
          <a:p>
            <a:r>
              <a:rPr lang="en-US" dirty="0"/>
              <a:t>Din </a:t>
            </a:r>
            <a:r>
              <a:rPr lang="en-US" dirty="0" err="1"/>
              <a:t>diagrama</a:t>
            </a:r>
            <a:r>
              <a:rPr lang="en-US" dirty="0"/>
              <a:t> Bode </a:t>
            </a:r>
            <a:r>
              <a:rPr lang="en-US" dirty="0" err="1"/>
              <a:t>analizata</a:t>
            </a:r>
            <a:r>
              <a:rPr lang="en-US" dirty="0"/>
              <a:t>, </a:t>
            </a:r>
            <a:r>
              <a:rPr lang="en-US" dirty="0" err="1"/>
              <a:t>convertorul</a:t>
            </a:r>
            <a:r>
              <a:rPr lang="en-US" dirty="0"/>
              <a:t> </a:t>
            </a:r>
            <a:r>
              <a:rPr lang="en-US" dirty="0" err="1"/>
              <a:t>este</a:t>
            </a:r>
            <a:r>
              <a:rPr lang="en-US" dirty="0"/>
              <a:t> cel </a:t>
            </a:r>
            <a:r>
              <a:rPr lang="en-US" dirty="0" err="1"/>
              <a:t>mai</a:t>
            </a:r>
            <a:r>
              <a:rPr lang="en-US" dirty="0"/>
              <a:t> </a:t>
            </a:r>
            <a:r>
              <a:rPr lang="en-US" dirty="0" err="1"/>
              <a:t>vunerabil</a:t>
            </a:r>
            <a:r>
              <a:rPr lang="en-US" dirty="0"/>
              <a:t> la </a:t>
            </a:r>
            <a:r>
              <a:rPr lang="en-US" dirty="0" err="1"/>
              <a:t>frecvente</a:t>
            </a:r>
            <a:r>
              <a:rPr lang="en-US" dirty="0"/>
              <a:t> </a:t>
            </a:r>
            <a:r>
              <a:rPr lang="en-US" dirty="0" err="1"/>
              <a:t>joase</a:t>
            </a:r>
            <a:r>
              <a:rPr lang="en-US" dirty="0"/>
              <a:t> (100-200) rad/s, </a:t>
            </a:r>
            <a:r>
              <a:rPr lang="en-US" dirty="0" err="1"/>
              <a:t>deoarece</a:t>
            </a:r>
            <a:r>
              <a:rPr lang="en-US" dirty="0"/>
              <a:t> </a:t>
            </a:r>
            <a:r>
              <a:rPr lang="en-US" dirty="0" err="1"/>
              <a:t>atunci</a:t>
            </a:r>
            <a:r>
              <a:rPr lang="en-US" dirty="0"/>
              <a:t> </a:t>
            </a:r>
            <a:r>
              <a:rPr lang="en-US" dirty="0" err="1"/>
              <a:t>amplificarea</a:t>
            </a:r>
            <a:r>
              <a:rPr lang="en-US" dirty="0"/>
              <a:t> </a:t>
            </a:r>
            <a:r>
              <a:rPr lang="en-US" dirty="0" err="1"/>
              <a:t>este</a:t>
            </a:r>
            <a:r>
              <a:rPr lang="en-US" dirty="0"/>
              <a:t> </a:t>
            </a:r>
            <a:r>
              <a:rPr lang="en-US" dirty="0" err="1"/>
              <a:t>cea</a:t>
            </a:r>
            <a:r>
              <a:rPr lang="en-US" dirty="0"/>
              <a:t> </a:t>
            </a:r>
            <a:r>
              <a:rPr lang="en-US" dirty="0" err="1"/>
              <a:t>mai</a:t>
            </a:r>
            <a:r>
              <a:rPr lang="en-US" dirty="0"/>
              <a:t> </a:t>
            </a:r>
            <a:r>
              <a:rPr lang="en-US" dirty="0" err="1"/>
              <a:t>puternica</a:t>
            </a:r>
            <a:r>
              <a:rPr lang="en-US" dirty="0"/>
              <a:t>.</a:t>
            </a:r>
          </a:p>
        </p:txBody>
      </p:sp>
      <p:sp>
        <p:nvSpPr>
          <p:cNvPr id="7" name="TextBox 6">
            <a:extLst>
              <a:ext uri="{FF2B5EF4-FFF2-40B4-BE49-F238E27FC236}">
                <a16:creationId xmlns:a16="http://schemas.microsoft.com/office/drawing/2014/main" id="{DD3E415D-2E69-4DE9-30FE-25A3433CC1BD}"/>
              </a:ext>
            </a:extLst>
          </p:cNvPr>
          <p:cNvSpPr txBox="1"/>
          <p:nvPr/>
        </p:nvSpPr>
        <p:spPr>
          <a:xfrm>
            <a:off x="186813" y="5196800"/>
            <a:ext cx="11582400" cy="646331"/>
          </a:xfrm>
          <a:prstGeom prst="rect">
            <a:avLst/>
          </a:prstGeom>
          <a:noFill/>
        </p:spPr>
        <p:txBody>
          <a:bodyPr wrap="square" rtlCol="0">
            <a:spAutoFit/>
          </a:bodyPr>
          <a:lstStyle/>
          <a:p>
            <a:r>
              <a:rPr lang="en-US" dirty="0" err="1"/>
              <a:t>Punctul</a:t>
            </a:r>
            <a:r>
              <a:rPr lang="en-US" dirty="0"/>
              <a:t> e) </a:t>
            </a:r>
            <a:r>
              <a:rPr lang="ro-RO" dirty="0"/>
              <a:t>Calculaţi cu ajutorul comenzii TRIM care este factorul de umplere în punctul de funcţionare aferent unui curent de sarcină de 2A.</a:t>
            </a:r>
            <a:endParaRPr lang="en-US" dirty="0"/>
          </a:p>
        </p:txBody>
      </p:sp>
      <p:sp>
        <p:nvSpPr>
          <p:cNvPr id="8" name="TextBox 7">
            <a:extLst>
              <a:ext uri="{FF2B5EF4-FFF2-40B4-BE49-F238E27FC236}">
                <a16:creationId xmlns:a16="http://schemas.microsoft.com/office/drawing/2014/main" id="{3AAC5CD0-3116-CCEC-6D33-3527502816AA}"/>
              </a:ext>
            </a:extLst>
          </p:cNvPr>
          <p:cNvSpPr txBox="1"/>
          <p:nvPr/>
        </p:nvSpPr>
        <p:spPr>
          <a:xfrm>
            <a:off x="176982" y="5959294"/>
            <a:ext cx="3293806" cy="369332"/>
          </a:xfrm>
          <a:prstGeom prst="rect">
            <a:avLst/>
          </a:prstGeom>
          <a:noFill/>
        </p:spPr>
        <p:txBody>
          <a:bodyPr wrap="square" rtlCol="0">
            <a:spAutoFit/>
          </a:bodyPr>
          <a:lstStyle/>
          <a:p>
            <a:r>
              <a:rPr lang="en-US" dirty="0" err="1"/>
              <a:t>Factorul</a:t>
            </a:r>
            <a:r>
              <a:rPr lang="en-US" dirty="0"/>
              <a:t> de </a:t>
            </a:r>
            <a:r>
              <a:rPr lang="en-US" dirty="0" err="1"/>
              <a:t>umplere</a:t>
            </a:r>
            <a:r>
              <a:rPr lang="en-US" dirty="0"/>
              <a:t> D = 0.4845</a:t>
            </a:r>
          </a:p>
        </p:txBody>
      </p:sp>
    </p:spTree>
    <p:extLst>
      <p:ext uri="{BB962C8B-B14F-4D97-AF65-F5344CB8AC3E}">
        <p14:creationId xmlns:p14="http://schemas.microsoft.com/office/powerpoint/2010/main" val="3583352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E4338C-E49C-5E57-48B9-C0F5D8911044}"/>
              </a:ext>
            </a:extLst>
          </p:cNvPr>
          <p:cNvSpPr txBox="1"/>
          <p:nvPr/>
        </p:nvSpPr>
        <p:spPr>
          <a:xfrm>
            <a:off x="309716" y="279236"/>
            <a:ext cx="8783484" cy="369332"/>
          </a:xfrm>
          <a:prstGeom prst="rect">
            <a:avLst/>
          </a:prstGeom>
          <a:noFill/>
        </p:spPr>
        <p:txBody>
          <a:bodyPr wrap="square" rtlCol="0">
            <a:spAutoFit/>
          </a:bodyPr>
          <a:lstStyle/>
          <a:p>
            <a:r>
              <a:rPr lang="en-US" dirty="0" err="1"/>
              <a:t>Punctul</a:t>
            </a:r>
            <a:r>
              <a:rPr lang="en-US" dirty="0"/>
              <a:t> f) *AICI TREBUIE ALEA COMUTATE SI MEDIATE direct din stare </a:t>
            </a:r>
            <a:r>
              <a:rPr lang="en-US" dirty="0" err="1"/>
              <a:t>stationara</a:t>
            </a:r>
            <a:r>
              <a:rPr lang="en-US" dirty="0"/>
              <a:t>*</a:t>
            </a:r>
          </a:p>
        </p:txBody>
      </p:sp>
      <p:pic>
        <p:nvPicPr>
          <p:cNvPr id="4" name="Picture 3">
            <a:extLst>
              <a:ext uri="{FF2B5EF4-FFF2-40B4-BE49-F238E27FC236}">
                <a16:creationId xmlns:a16="http://schemas.microsoft.com/office/drawing/2014/main" id="{3858617B-1DFD-96EE-53C4-93153200521A}"/>
              </a:ext>
            </a:extLst>
          </p:cNvPr>
          <p:cNvPicPr>
            <a:picLocks noChangeAspect="1"/>
          </p:cNvPicPr>
          <p:nvPr/>
        </p:nvPicPr>
        <p:blipFill>
          <a:blip r:embed="rId2"/>
          <a:stretch>
            <a:fillRect/>
          </a:stretch>
        </p:blipFill>
        <p:spPr>
          <a:xfrm>
            <a:off x="6856217" y="886244"/>
            <a:ext cx="5090160" cy="3815800"/>
          </a:xfrm>
          <a:prstGeom prst="rect">
            <a:avLst/>
          </a:prstGeom>
        </p:spPr>
      </p:pic>
      <p:sp>
        <p:nvSpPr>
          <p:cNvPr id="5" name="TextBox 4">
            <a:extLst>
              <a:ext uri="{FF2B5EF4-FFF2-40B4-BE49-F238E27FC236}">
                <a16:creationId xmlns:a16="http://schemas.microsoft.com/office/drawing/2014/main" id="{E8B4B59E-F6B7-424F-CB5B-7C8EC745FF02}"/>
              </a:ext>
            </a:extLst>
          </p:cNvPr>
          <p:cNvSpPr txBox="1"/>
          <p:nvPr/>
        </p:nvSpPr>
        <p:spPr>
          <a:xfrm>
            <a:off x="7966953" y="4702044"/>
            <a:ext cx="2868687" cy="369332"/>
          </a:xfrm>
          <a:prstGeom prst="rect">
            <a:avLst/>
          </a:prstGeom>
          <a:noFill/>
        </p:spPr>
        <p:txBody>
          <a:bodyPr wrap="square" rtlCol="0">
            <a:spAutoFit/>
          </a:bodyPr>
          <a:lstStyle/>
          <a:p>
            <a:r>
              <a:rPr lang="en-US" dirty="0" err="1"/>
              <a:t>Mediat</a:t>
            </a:r>
            <a:r>
              <a:rPr lang="en-US" dirty="0"/>
              <a:t> </a:t>
            </a:r>
            <a:r>
              <a:rPr lang="en-US" dirty="0" err="1"/>
              <a:t>si</a:t>
            </a:r>
            <a:r>
              <a:rPr lang="en-US" dirty="0"/>
              <a:t> </a:t>
            </a:r>
            <a:r>
              <a:rPr lang="en-US" dirty="0" err="1"/>
              <a:t>Comutat</a:t>
            </a:r>
            <a:r>
              <a:rPr lang="en-US" dirty="0"/>
              <a:t> cu ode45 </a:t>
            </a:r>
          </a:p>
        </p:txBody>
      </p:sp>
      <p:sp>
        <p:nvSpPr>
          <p:cNvPr id="6" name="TextBox 5">
            <a:extLst>
              <a:ext uri="{FF2B5EF4-FFF2-40B4-BE49-F238E27FC236}">
                <a16:creationId xmlns:a16="http://schemas.microsoft.com/office/drawing/2014/main" id="{6188EB87-FB0C-0CB7-6BA7-7E58EA5396FA}"/>
              </a:ext>
            </a:extLst>
          </p:cNvPr>
          <p:cNvSpPr txBox="1"/>
          <p:nvPr/>
        </p:nvSpPr>
        <p:spPr>
          <a:xfrm>
            <a:off x="467360" y="975360"/>
            <a:ext cx="2103120" cy="369332"/>
          </a:xfrm>
          <a:prstGeom prst="rect">
            <a:avLst/>
          </a:prstGeom>
          <a:noFill/>
        </p:spPr>
        <p:txBody>
          <a:bodyPr wrap="square" rtlCol="0">
            <a:spAutoFit/>
          </a:bodyPr>
          <a:lstStyle/>
          <a:p>
            <a:r>
              <a:rPr lang="en-US" dirty="0" err="1"/>
              <a:t>Simulare</a:t>
            </a:r>
            <a:r>
              <a:rPr lang="en-US" dirty="0"/>
              <a:t> </a:t>
            </a:r>
            <a:r>
              <a:rPr lang="en-US" dirty="0" err="1"/>
              <a:t>Matlab</a:t>
            </a:r>
            <a:endParaRPr lang="en-US" dirty="0"/>
          </a:p>
        </p:txBody>
      </p:sp>
    </p:spTree>
    <p:extLst>
      <p:ext uri="{BB962C8B-B14F-4D97-AF65-F5344CB8AC3E}">
        <p14:creationId xmlns:p14="http://schemas.microsoft.com/office/powerpoint/2010/main" val="548056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8C3638-FBD0-DB53-DA27-161780F31577}"/>
              </a:ext>
            </a:extLst>
          </p:cNvPr>
          <p:cNvSpPr txBox="1"/>
          <p:nvPr/>
        </p:nvSpPr>
        <p:spPr>
          <a:xfrm>
            <a:off x="298573" y="196645"/>
            <a:ext cx="2489200" cy="369332"/>
          </a:xfrm>
          <a:prstGeom prst="rect">
            <a:avLst/>
          </a:prstGeom>
          <a:noFill/>
        </p:spPr>
        <p:txBody>
          <a:bodyPr wrap="square" rtlCol="0">
            <a:spAutoFit/>
          </a:bodyPr>
          <a:lstStyle/>
          <a:p>
            <a:r>
              <a:rPr lang="en-US" dirty="0" err="1"/>
              <a:t>Simulare</a:t>
            </a:r>
            <a:r>
              <a:rPr lang="en-US" dirty="0"/>
              <a:t> in Simulink</a:t>
            </a:r>
          </a:p>
        </p:txBody>
      </p:sp>
      <p:pic>
        <p:nvPicPr>
          <p:cNvPr id="6" name="Picture 5">
            <a:extLst>
              <a:ext uri="{FF2B5EF4-FFF2-40B4-BE49-F238E27FC236}">
                <a16:creationId xmlns:a16="http://schemas.microsoft.com/office/drawing/2014/main" id="{E945BF18-8867-E9A2-0556-C9B1DCDAA90B}"/>
              </a:ext>
            </a:extLst>
          </p:cNvPr>
          <p:cNvPicPr>
            <a:picLocks noChangeAspect="1"/>
          </p:cNvPicPr>
          <p:nvPr/>
        </p:nvPicPr>
        <p:blipFill>
          <a:blip r:embed="rId2"/>
          <a:stretch>
            <a:fillRect/>
          </a:stretch>
        </p:blipFill>
        <p:spPr>
          <a:xfrm>
            <a:off x="2528887" y="824559"/>
            <a:ext cx="7134226" cy="5208881"/>
          </a:xfrm>
          <a:prstGeom prst="rect">
            <a:avLst/>
          </a:prstGeom>
        </p:spPr>
      </p:pic>
      <p:sp>
        <p:nvSpPr>
          <p:cNvPr id="7" name="TextBox 6">
            <a:extLst>
              <a:ext uri="{FF2B5EF4-FFF2-40B4-BE49-F238E27FC236}">
                <a16:creationId xmlns:a16="http://schemas.microsoft.com/office/drawing/2014/main" id="{063C364D-EDE8-9A33-081C-44D8532178C4}"/>
              </a:ext>
            </a:extLst>
          </p:cNvPr>
          <p:cNvSpPr txBox="1"/>
          <p:nvPr/>
        </p:nvSpPr>
        <p:spPr>
          <a:xfrm>
            <a:off x="5080000" y="6183867"/>
            <a:ext cx="2032000" cy="369332"/>
          </a:xfrm>
          <a:prstGeom prst="rect">
            <a:avLst/>
          </a:prstGeom>
          <a:noFill/>
        </p:spPr>
        <p:txBody>
          <a:bodyPr wrap="square" rtlCol="0">
            <a:spAutoFit/>
          </a:bodyPr>
          <a:lstStyle/>
          <a:p>
            <a:r>
              <a:rPr lang="en-US" dirty="0"/>
              <a:t>Schema Simulink</a:t>
            </a:r>
          </a:p>
        </p:txBody>
      </p:sp>
    </p:spTree>
    <p:extLst>
      <p:ext uri="{BB962C8B-B14F-4D97-AF65-F5344CB8AC3E}">
        <p14:creationId xmlns:p14="http://schemas.microsoft.com/office/powerpoint/2010/main" val="3945499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40DA04-6B38-A9B2-70DB-83B915959912}"/>
              </a:ext>
            </a:extLst>
          </p:cNvPr>
          <p:cNvPicPr>
            <a:picLocks noChangeAspect="1"/>
          </p:cNvPicPr>
          <p:nvPr/>
        </p:nvPicPr>
        <p:blipFill>
          <a:blip r:embed="rId2"/>
          <a:stretch>
            <a:fillRect/>
          </a:stretch>
        </p:blipFill>
        <p:spPr>
          <a:xfrm>
            <a:off x="0" y="985520"/>
            <a:ext cx="6096000" cy="3577356"/>
          </a:xfrm>
          <a:prstGeom prst="rect">
            <a:avLst/>
          </a:prstGeom>
        </p:spPr>
      </p:pic>
      <p:sp>
        <p:nvSpPr>
          <p:cNvPr id="3" name="TextBox 2">
            <a:extLst>
              <a:ext uri="{FF2B5EF4-FFF2-40B4-BE49-F238E27FC236}">
                <a16:creationId xmlns:a16="http://schemas.microsoft.com/office/drawing/2014/main" id="{B2690B84-3C45-6B78-97C5-C1E74F1E3E17}"/>
              </a:ext>
            </a:extLst>
          </p:cNvPr>
          <p:cNvSpPr txBox="1"/>
          <p:nvPr/>
        </p:nvSpPr>
        <p:spPr>
          <a:xfrm>
            <a:off x="2514600" y="4562876"/>
            <a:ext cx="1066800" cy="369332"/>
          </a:xfrm>
          <a:prstGeom prst="rect">
            <a:avLst/>
          </a:prstGeom>
          <a:noFill/>
        </p:spPr>
        <p:txBody>
          <a:bodyPr wrap="square" rtlCol="0">
            <a:spAutoFit/>
          </a:bodyPr>
          <a:lstStyle/>
          <a:p>
            <a:r>
              <a:rPr lang="en-US" dirty="0"/>
              <a:t>IL </a:t>
            </a:r>
            <a:r>
              <a:rPr lang="en-US" dirty="0" err="1"/>
              <a:t>mediat</a:t>
            </a:r>
            <a:endParaRPr lang="en-US" dirty="0"/>
          </a:p>
        </p:txBody>
      </p:sp>
      <p:pic>
        <p:nvPicPr>
          <p:cNvPr id="5" name="Picture 4">
            <a:extLst>
              <a:ext uri="{FF2B5EF4-FFF2-40B4-BE49-F238E27FC236}">
                <a16:creationId xmlns:a16="http://schemas.microsoft.com/office/drawing/2014/main" id="{951F8078-1ABA-748D-5330-3B977E3FF614}"/>
              </a:ext>
            </a:extLst>
          </p:cNvPr>
          <p:cNvPicPr>
            <a:picLocks noChangeAspect="1"/>
          </p:cNvPicPr>
          <p:nvPr/>
        </p:nvPicPr>
        <p:blipFill>
          <a:blip r:embed="rId3"/>
          <a:stretch>
            <a:fillRect/>
          </a:stretch>
        </p:blipFill>
        <p:spPr>
          <a:xfrm>
            <a:off x="6096001" y="985520"/>
            <a:ext cx="6096000" cy="3577356"/>
          </a:xfrm>
          <a:prstGeom prst="rect">
            <a:avLst/>
          </a:prstGeom>
        </p:spPr>
      </p:pic>
      <p:sp>
        <p:nvSpPr>
          <p:cNvPr id="6" name="TextBox 5">
            <a:extLst>
              <a:ext uri="{FF2B5EF4-FFF2-40B4-BE49-F238E27FC236}">
                <a16:creationId xmlns:a16="http://schemas.microsoft.com/office/drawing/2014/main" id="{92615B9C-F6A9-36F8-9A16-4347A743FBB2}"/>
              </a:ext>
            </a:extLst>
          </p:cNvPr>
          <p:cNvSpPr txBox="1"/>
          <p:nvPr/>
        </p:nvSpPr>
        <p:spPr>
          <a:xfrm>
            <a:off x="410660" y="246856"/>
            <a:ext cx="3068320" cy="369332"/>
          </a:xfrm>
          <a:prstGeom prst="rect">
            <a:avLst/>
          </a:prstGeom>
          <a:noFill/>
        </p:spPr>
        <p:txBody>
          <a:bodyPr wrap="square" rtlCol="0">
            <a:spAutoFit/>
          </a:bodyPr>
          <a:lstStyle/>
          <a:p>
            <a:r>
              <a:rPr lang="en-US" dirty="0" err="1"/>
              <a:t>Simulare</a:t>
            </a:r>
            <a:r>
              <a:rPr lang="en-US" dirty="0"/>
              <a:t> in Simulink</a:t>
            </a:r>
          </a:p>
        </p:txBody>
      </p:sp>
      <p:sp>
        <p:nvSpPr>
          <p:cNvPr id="7" name="TextBox 6">
            <a:extLst>
              <a:ext uri="{FF2B5EF4-FFF2-40B4-BE49-F238E27FC236}">
                <a16:creationId xmlns:a16="http://schemas.microsoft.com/office/drawing/2014/main" id="{0695C1A8-1251-19C8-1EF2-93A118B1BF0C}"/>
              </a:ext>
            </a:extLst>
          </p:cNvPr>
          <p:cNvSpPr txBox="1"/>
          <p:nvPr/>
        </p:nvSpPr>
        <p:spPr>
          <a:xfrm>
            <a:off x="8610602" y="4606338"/>
            <a:ext cx="1341120" cy="369332"/>
          </a:xfrm>
          <a:prstGeom prst="rect">
            <a:avLst/>
          </a:prstGeom>
          <a:noFill/>
        </p:spPr>
        <p:txBody>
          <a:bodyPr wrap="square" rtlCol="0">
            <a:spAutoFit/>
          </a:bodyPr>
          <a:lstStyle/>
          <a:p>
            <a:r>
              <a:rPr lang="en-US" dirty="0"/>
              <a:t>IL </a:t>
            </a:r>
            <a:r>
              <a:rPr lang="en-US" dirty="0" err="1"/>
              <a:t>comutat</a:t>
            </a:r>
            <a:endParaRPr lang="en-US" dirty="0"/>
          </a:p>
        </p:txBody>
      </p:sp>
    </p:spTree>
    <p:extLst>
      <p:ext uri="{BB962C8B-B14F-4D97-AF65-F5344CB8AC3E}">
        <p14:creationId xmlns:p14="http://schemas.microsoft.com/office/powerpoint/2010/main" val="3980684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494E15-2641-EB9C-83E1-4E78D33DBE2D}"/>
              </a:ext>
            </a:extLst>
          </p:cNvPr>
          <p:cNvPicPr>
            <a:picLocks noChangeAspect="1"/>
          </p:cNvPicPr>
          <p:nvPr/>
        </p:nvPicPr>
        <p:blipFill>
          <a:blip r:embed="rId2"/>
          <a:stretch>
            <a:fillRect/>
          </a:stretch>
        </p:blipFill>
        <p:spPr>
          <a:xfrm>
            <a:off x="795020" y="929689"/>
            <a:ext cx="10601960" cy="4998621"/>
          </a:xfrm>
          <a:prstGeom prst="rect">
            <a:avLst/>
          </a:prstGeom>
        </p:spPr>
      </p:pic>
      <p:sp>
        <p:nvSpPr>
          <p:cNvPr id="4" name="TextBox 3">
            <a:extLst>
              <a:ext uri="{FF2B5EF4-FFF2-40B4-BE49-F238E27FC236}">
                <a16:creationId xmlns:a16="http://schemas.microsoft.com/office/drawing/2014/main" id="{70632458-AC69-4949-10F9-79D815FDD0FE}"/>
              </a:ext>
            </a:extLst>
          </p:cNvPr>
          <p:cNvSpPr txBox="1"/>
          <p:nvPr/>
        </p:nvSpPr>
        <p:spPr>
          <a:xfrm>
            <a:off x="298900" y="267176"/>
            <a:ext cx="3068320" cy="369332"/>
          </a:xfrm>
          <a:prstGeom prst="rect">
            <a:avLst/>
          </a:prstGeom>
          <a:noFill/>
        </p:spPr>
        <p:txBody>
          <a:bodyPr wrap="square" rtlCol="0">
            <a:spAutoFit/>
          </a:bodyPr>
          <a:lstStyle/>
          <a:p>
            <a:r>
              <a:rPr lang="en-US" dirty="0" err="1"/>
              <a:t>Simulare</a:t>
            </a:r>
            <a:r>
              <a:rPr lang="en-US" dirty="0"/>
              <a:t> in Simulink</a:t>
            </a:r>
          </a:p>
        </p:txBody>
      </p:sp>
      <p:sp>
        <p:nvSpPr>
          <p:cNvPr id="5" name="TextBox 4">
            <a:extLst>
              <a:ext uri="{FF2B5EF4-FFF2-40B4-BE49-F238E27FC236}">
                <a16:creationId xmlns:a16="http://schemas.microsoft.com/office/drawing/2014/main" id="{2FD18B10-57EE-6841-2CB1-49C77BE88D11}"/>
              </a:ext>
            </a:extLst>
          </p:cNvPr>
          <p:cNvSpPr txBox="1"/>
          <p:nvPr/>
        </p:nvSpPr>
        <p:spPr>
          <a:xfrm>
            <a:off x="4831080" y="6036825"/>
            <a:ext cx="2529840" cy="369332"/>
          </a:xfrm>
          <a:prstGeom prst="rect">
            <a:avLst/>
          </a:prstGeom>
          <a:noFill/>
        </p:spPr>
        <p:txBody>
          <a:bodyPr wrap="square" rtlCol="0">
            <a:spAutoFit/>
          </a:bodyPr>
          <a:lstStyle/>
          <a:p>
            <a:r>
              <a:rPr lang="en-US" dirty="0"/>
              <a:t>IL </a:t>
            </a:r>
            <a:r>
              <a:rPr lang="en-US" dirty="0" err="1"/>
              <a:t>mediat</a:t>
            </a:r>
            <a:r>
              <a:rPr lang="en-US" dirty="0"/>
              <a:t> </a:t>
            </a:r>
            <a:r>
              <a:rPr lang="en-US" dirty="0" err="1"/>
              <a:t>si</a:t>
            </a:r>
            <a:r>
              <a:rPr lang="en-US" dirty="0"/>
              <a:t> IL </a:t>
            </a:r>
            <a:r>
              <a:rPr lang="en-US" dirty="0" err="1"/>
              <a:t>comutat</a:t>
            </a:r>
            <a:endParaRPr lang="en-US" dirty="0"/>
          </a:p>
        </p:txBody>
      </p:sp>
    </p:spTree>
    <p:extLst>
      <p:ext uri="{BB962C8B-B14F-4D97-AF65-F5344CB8AC3E}">
        <p14:creationId xmlns:p14="http://schemas.microsoft.com/office/powerpoint/2010/main" val="1863509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9D5C00-7E81-B857-45A5-AD9F3D0B4CE0}"/>
              </a:ext>
            </a:extLst>
          </p:cNvPr>
          <p:cNvSpPr txBox="1"/>
          <p:nvPr/>
        </p:nvSpPr>
        <p:spPr>
          <a:xfrm>
            <a:off x="132080" y="304800"/>
            <a:ext cx="11283172" cy="646331"/>
          </a:xfrm>
          <a:prstGeom prst="rect">
            <a:avLst/>
          </a:prstGeom>
          <a:noFill/>
        </p:spPr>
        <p:txBody>
          <a:bodyPr wrap="square" rtlCol="0">
            <a:spAutoFit/>
          </a:bodyPr>
          <a:lstStyle/>
          <a:p>
            <a:r>
              <a:rPr lang="en-US" dirty="0" err="1"/>
              <a:t>Punctul</a:t>
            </a:r>
            <a:r>
              <a:rPr lang="en-US" dirty="0"/>
              <a:t> g)  </a:t>
            </a:r>
            <a:r>
              <a:rPr lang="en-US" dirty="0" err="1"/>
              <a:t>Simulaţi</a:t>
            </a:r>
            <a:r>
              <a:rPr lang="en-US" dirty="0"/>
              <a:t> </a:t>
            </a:r>
            <a:r>
              <a:rPr lang="en-US" dirty="0" err="1"/>
              <a:t>convertorul</a:t>
            </a:r>
            <a:r>
              <a:rPr lang="en-US" dirty="0"/>
              <a:t> </a:t>
            </a:r>
            <a:r>
              <a:rPr lang="en-US" dirty="0" err="1"/>
              <a:t>în</a:t>
            </a:r>
            <a:r>
              <a:rPr lang="en-US" dirty="0"/>
              <a:t> </a:t>
            </a:r>
            <a:r>
              <a:rPr lang="en-US" dirty="0" err="1"/>
              <a:t>același</a:t>
            </a:r>
            <a:r>
              <a:rPr lang="en-US" dirty="0"/>
              <a:t> </a:t>
            </a:r>
            <a:r>
              <a:rPr lang="en-US" dirty="0" err="1"/>
              <a:t>punct</a:t>
            </a:r>
            <a:r>
              <a:rPr lang="en-US" dirty="0"/>
              <a:t> de </a:t>
            </a:r>
            <a:r>
              <a:rPr lang="en-US" dirty="0" err="1"/>
              <a:t>funcționare</a:t>
            </a:r>
            <a:r>
              <a:rPr lang="en-US" dirty="0"/>
              <a:t> </a:t>
            </a:r>
            <a:r>
              <a:rPr lang="en-US" dirty="0" err="1"/>
              <a:t>implementând</a:t>
            </a:r>
            <a:r>
              <a:rPr lang="en-US" dirty="0"/>
              <a:t> </a:t>
            </a:r>
            <a:r>
              <a:rPr lang="en-US" dirty="0" err="1"/>
              <a:t>dumneavoastră</a:t>
            </a:r>
            <a:r>
              <a:rPr lang="en-US" dirty="0"/>
              <a:t> </a:t>
            </a:r>
            <a:r>
              <a:rPr lang="en-US" dirty="0" err="1"/>
              <a:t>algoritmul</a:t>
            </a:r>
            <a:r>
              <a:rPr lang="en-US" dirty="0"/>
              <a:t> de </a:t>
            </a:r>
            <a:r>
              <a:rPr lang="en-US" dirty="0" err="1"/>
              <a:t>integrare</a:t>
            </a:r>
            <a:r>
              <a:rPr lang="en-US" dirty="0"/>
              <a:t> </a:t>
            </a:r>
            <a:r>
              <a:rPr lang="en-US" dirty="0" err="1"/>
              <a:t>numerică</a:t>
            </a:r>
            <a:r>
              <a:rPr lang="en-US" dirty="0"/>
              <a:t>, </a:t>
            </a:r>
            <a:r>
              <a:rPr lang="en-US" dirty="0" err="1"/>
              <a:t>astfel</a:t>
            </a:r>
            <a:r>
              <a:rPr lang="en-US" dirty="0"/>
              <a:t>:</a:t>
            </a:r>
          </a:p>
        </p:txBody>
      </p:sp>
      <p:sp>
        <p:nvSpPr>
          <p:cNvPr id="4" name="TextBox 3">
            <a:extLst>
              <a:ext uri="{FF2B5EF4-FFF2-40B4-BE49-F238E27FC236}">
                <a16:creationId xmlns:a16="http://schemas.microsoft.com/office/drawing/2014/main" id="{0549B2E8-5334-2131-C44C-6862CDF6BF4E}"/>
              </a:ext>
            </a:extLst>
          </p:cNvPr>
          <p:cNvSpPr txBox="1"/>
          <p:nvPr/>
        </p:nvSpPr>
        <p:spPr>
          <a:xfrm>
            <a:off x="132080" y="1130710"/>
            <a:ext cx="6611273" cy="646331"/>
          </a:xfrm>
          <a:prstGeom prst="rect">
            <a:avLst/>
          </a:prstGeom>
          <a:noFill/>
        </p:spPr>
        <p:txBody>
          <a:bodyPr wrap="square" rtlCol="0">
            <a:spAutoFit/>
          </a:bodyPr>
          <a:lstStyle/>
          <a:p>
            <a:r>
              <a:rPr lang="en-US" dirty="0"/>
              <a:t>Cu </a:t>
            </a:r>
            <a:r>
              <a:rPr lang="en-US" dirty="0" err="1"/>
              <a:t>metoda</a:t>
            </a:r>
            <a:r>
              <a:rPr lang="en-US" dirty="0"/>
              <a:t> Gear 2: *</a:t>
            </a:r>
            <a:r>
              <a:rPr lang="en-US" dirty="0" err="1"/>
              <a:t>aici</a:t>
            </a:r>
            <a:r>
              <a:rPr lang="en-US" dirty="0"/>
              <a:t> </a:t>
            </a:r>
            <a:r>
              <a:rPr lang="en-US" dirty="0" err="1"/>
              <a:t>daca</a:t>
            </a:r>
            <a:r>
              <a:rPr lang="en-US" dirty="0"/>
              <a:t> </a:t>
            </a:r>
            <a:r>
              <a:rPr lang="en-US" dirty="0" err="1"/>
              <a:t>mai</a:t>
            </a:r>
            <a:r>
              <a:rPr lang="en-US" dirty="0"/>
              <a:t> </a:t>
            </a:r>
            <a:r>
              <a:rPr lang="en-US" dirty="0" err="1"/>
              <a:t>vrei</a:t>
            </a:r>
            <a:r>
              <a:rPr lang="en-US" dirty="0"/>
              <a:t> </a:t>
            </a:r>
            <a:r>
              <a:rPr lang="en-US" dirty="0" err="1"/>
              <a:t>tu</a:t>
            </a:r>
            <a:r>
              <a:rPr lang="en-US" dirty="0"/>
              <a:t> </a:t>
            </a:r>
            <a:r>
              <a:rPr lang="en-US" dirty="0" err="1"/>
              <a:t>sa</a:t>
            </a:r>
            <a:r>
              <a:rPr lang="en-US" dirty="0"/>
              <a:t> </a:t>
            </a:r>
            <a:r>
              <a:rPr lang="en-US" dirty="0" err="1"/>
              <a:t>pui</a:t>
            </a:r>
            <a:r>
              <a:rPr lang="en-US" dirty="0"/>
              <a:t> </a:t>
            </a:r>
            <a:r>
              <a:rPr lang="en-US" dirty="0" err="1"/>
              <a:t>formule</a:t>
            </a:r>
            <a:r>
              <a:rPr lang="en-US" dirty="0"/>
              <a:t> din </a:t>
            </a:r>
            <a:r>
              <a:rPr lang="en-US" dirty="0" err="1"/>
              <a:t>caiet</a:t>
            </a:r>
            <a:r>
              <a:rPr lang="en-US" dirty="0"/>
              <a:t> </a:t>
            </a:r>
            <a:r>
              <a:rPr lang="en-US" dirty="0" err="1"/>
              <a:t>sau</a:t>
            </a:r>
            <a:r>
              <a:rPr lang="en-US" dirty="0"/>
              <a:t> </a:t>
            </a:r>
            <a:r>
              <a:rPr lang="en-US" dirty="0" err="1"/>
              <a:t>asa</a:t>
            </a:r>
            <a:r>
              <a:rPr lang="en-US" dirty="0"/>
              <a:t> </a:t>
            </a:r>
            <a:r>
              <a:rPr lang="en-US" dirty="0" err="1"/>
              <a:t>sa</a:t>
            </a:r>
            <a:r>
              <a:rPr lang="en-US" dirty="0"/>
              <a:t> </a:t>
            </a:r>
            <a:r>
              <a:rPr lang="en-US" dirty="0" err="1"/>
              <a:t>te</a:t>
            </a:r>
            <a:r>
              <a:rPr lang="en-US" dirty="0"/>
              <a:t> </a:t>
            </a:r>
            <a:r>
              <a:rPr lang="en-US" dirty="0" err="1"/>
              <a:t>ajute</a:t>
            </a:r>
            <a:r>
              <a:rPr lang="en-US" dirty="0"/>
              <a:t> </a:t>
            </a:r>
            <a:r>
              <a:rPr lang="en-US" dirty="0" err="1"/>
              <a:t>na</a:t>
            </a:r>
            <a:r>
              <a:rPr lang="en-US" dirty="0"/>
              <a:t>*</a:t>
            </a:r>
          </a:p>
        </p:txBody>
      </p:sp>
      <p:pic>
        <p:nvPicPr>
          <p:cNvPr id="6" name="Picture 5">
            <a:extLst>
              <a:ext uri="{FF2B5EF4-FFF2-40B4-BE49-F238E27FC236}">
                <a16:creationId xmlns:a16="http://schemas.microsoft.com/office/drawing/2014/main" id="{985028D2-DF20-772B-B097-AC977BE3727E}"/>
              </a:ext>
            </a:extLst>
          </p:cNvPr>
          <p:cNvPicPr>
            <a:picLocks noChangeAspect="1"/>
          </p:cNvPicPr>
          <p:nvPr/>
        </p:nvPicPr>
        <p:blipFill>
          <a:blip r:embed="rId2"/>
          <a:stretch>
            <a:fillRect/>
          </a:stretch>
        </p:blipFill>
        <p:spPr>
          <a:xfrm>
            <a:off x="2617643" y="1514168"/>
            <a:ext cx="6611273" cy="4953691"/>
          </a:xfrm>
          <a:prstGeom prst="rect">
            <a:avLst/>
          </a:prstGeom>
        </p:spPr>
      </p:pic>
    </p:spTree>
    <p:extLst>
      <p:ext uri="{BB962C8B-B14F-4D97-AF65-F5344CB8AC3E}">
        <p14:creationId xmlns:p14="http://schemas.microsoft.com/office/powerpoint/2010/main" val="3948676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462B5F-3500-2F85-5BA5-E88896B7457F}"/>
              </a:ext>
            </a:extLst>
          </p:cNvPr>
          <p:cNvSpPr txBox="1"/>
          <p:nvPr/>
        </p:nvSpPr>
        <p:spPr>
          <a:xfrm>
            <a:off x="304800" y="345440"/>
            <a:ext cx="3007360" cy="369332"/>
          </a:xfrm>
          <a:prstGeom prst="rect">
            <a:avLst/>
          </a:prstGeom>
          <a:noFill/>
        </p:spPr>
        <p:txBody>
          <a:bodyPr wrap="square" rtlCol="0">
            <a:spAutoFit/>
          </a:bodyPr>
          <a:lstStyle/>
          <a:p>
            <a:r>
              <a:rPr lang="en-US" dirty="0"/>
              <a:t>Cu </a:t>
            </a:r>
            <a:r>
              <a:rPr lang="en-US" dirty="0" err="1"/>
              <a:t>metoda</a:t>
            </a:r>
            <a:r>
              <a:rPr lang="en-US" dirty="0"/>
              <a:t> Range-</a:t>
            </a:r>
            <a:r>
              <a:rPr lang="en-US" dirty="0" err="1"/>
              <a:t>Kutta</a:t>
            </a:r>
            <a:r>
              <a:rPr lang="en-US" dirty="0"/>
              <a:t> 4</a:t>
            </a:r>
          </a:p>
        </p:txBody>
      </p:sp>
      <p:pic>
        <p:nvPicPr>
          <p:cNvPr id="4" name="Picture 3">
            <a:extLst>
              <a:ext uri="{FF2B5EF4-FFF2-40B4-BE49-F238E27FC236}">
                <a16:creationId xmlns:a16="http://schemas.microsoft.com/office/drawing/2014/main" id="{04F92804-0D1C-FBA6-2B1D-DAFAE9271A98}"/>
              </a:ext>
            </a:extLst>
          </p:cNvPr>
          <p:cNvPicPr>
            <a:picLocks noChangeAspect="1"/>
          </p:cNvPicPr>
          <p:nvPr/>
        </p:nvPicPr>
        <p:blipFill>
          <a:blip r:embed="rId2"/>
          <a:stretch>
            <a:fillRect/>
          </a:stretch>
        </p:blipFill>
        <p:spPr>
          <a:xfrm>
            <a:off x="2533735" y="1034326"/>
            <a:ext cx="7124529" cy="5328086"/>
          </a:xfrm>
          <a:prstGeom prst="rect">
            <a:avLst/>
          </a:prstGeom>
        </p:spPr>
      </p:pic>
    </p:spTree>
    <p:extLst>
      <p:ext uri="{BB962C8B-B14F-4D97-AF65-F5344CB8AC3E}">
        <p14:creationId xmlns:p14="http://schemas.microsoft.com/office/powerpoint/2010/main" val="3759195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35A892-9C09-8224-6E9C-661F5CDC3240}"/>
              </a:ext>
            </a:extLst>
          </p:cNvPr>
          <p:cNvSpPr txBox="1"/>
          <p:nvPr/>
        </p:nvSpPr>
        <p:spPr>
          <a:xfrm>
            <a:off x="363793" y="157316"/>
            <a:ext cx="11464413" cy="923330"/>
          </a:xfrm>
          <a:prstGeom prst="rect">
            <a:avLst/>
          </a:prstGeom>
          <a:noFill/>
        </p:spPr>
        <p:txBody>
          <a:bodyPr wrap="square" rtlCol="0">
            <a:spAutoFit/>
          </a:bodyPr>
          <a:lstStyle/>
          <a:p>
            <a:r>
              <a:rPr lang="en-US" dirty="0" err="1"/>
              <a:t>Punctul</a:t>
            </a:r>
            <a:r>
              <a:rPr lang="en-US" dirty="0"/>
              <a:t> h) </a:t>
            </a:r>
            <a:r>
              <a:rPr lang="ro-RO" dirty="0"/>
              <a:t>Pentru aceeași tensiune de alimentare și rezistență de sarcină, convertorului i se închide o buclă de reacție analogică de tip </a:t>
            </a:r>
            <a:r>
              <a:rPr lang="ro-RO" i="1" dirty="0"/>
              <a:t>proporțional</a:t>
            </a:r>
            <a:r>
              <a:rPr lang="ro-RO" dirty="0"/>
              <a:t> cu amplificarea </a:t>
            </a:r>
            <a:r>
              <a:rPr lang="ro-RO" i="1" dirty="0"/>
              <a:t>A</a:t>
            </a:r>
            <a:r>
              <a:rPr lang="ro-RO" dirty="0"/>
              <a:t>, având modulație </a:t>
            </a:r>
            <a:r>
              <a:rPr lang="ro-RO" i="1" dirty="0"/>
              <a:t>trailing edge</a:t>
            </a:r>
            <a:r>
              <a:rPr lang="ro-RO" dirty="0"/>
              <a:t>. Precizați de la care valoare a lui </a:t>
            </a:r>
            <a:r>
              <a:rPr lang="ro-RO" i="1" dirty="0"/>
              <a:t>A</a:t>
            </a:r>
            <a:r>
              <a:rPr lang="ro-RO" dirty="0"/>
              <a:t> apare instabilitatea manifestată prin bifurcație.</a:t>
            </a:r>
            <a:endParaRPr lang="en-US" dirty="0"/>
          </a:p>
        </p:txBody>
      </p:sp>
      <p:pic>
        <p:nvPicPr>
          <p:cNvPr id="4" name="Picture 3">
            <a:extLst>
              <a:ext uri="{FF2B5EF4-FFF2-40B4-BE49-F238E27FC236}">
                <a16:creationId xmlns:a16="http://schemas.microsoft.com/office/drawing/2014/main" id="{FA9ABC3A-BEE8-EF7C-8083-0AC1BD58A71B}"/>
              </a:ext>
            </a:extLst>
          </p:cNvPr>
          <p:cNvPicPr>
            <a:picLocks noChangeAspect="1"/>
          </p:cNvPicPr>
          <p:nvPr/>
        </p:nvPicPr>
        <p:blipFill>
          <a:blip r:embed="rId2"/>
          <a:stretch>
            <a:fillRect/>
          </a:stretch>
        </p:blipFill>
        <p:spPr>
          <a:xfrm>
            <a:off x="4879935" y="925191"/>
            <a:ext cx="6948271" cy="5335477"/>
          </a:xfrm>
          <a:prstGeom prst="rect">
            <a:avLst/>
          </a:prstGeom>
        </p:spPr>
      </p:pic>
      <p:sp>
        <p:nvSpPr>
          <p:cNvPr id="5" name="TextBox 4">
            <a:extLst>
              <a:ext uri="{FF2B5EF4-FFF2-40B4-BE49-F238E27FC236}">
                <a16:creationId xmlns:a16="http://schemas.microsoft.com/office/drawing/2014/main" id="{56DDD631-6B0B-3BDF-6112-2A54193FBDAB}"/>
              </a:ext>
            </a:extLst>
          </p:cNvPr>
          <p:cNvSpPr txBox="1"/>
          <p:nvPr/>
        </p:nvSpPr>
        <p:spPr>
          <a:xfrm>
            <a:off x="98323" y="3408263"/>
            <a:ext cx="4781612" cy="369332"/>
          </a:xfrm>
          <a:prstGeom prst="rect">
            <a:avLst/>
          </a:prstGeom>
          <a:noFill/>
        </p:spPr>
        <p:txBody>
          <a:bodyPr wrap="square" rtlCol="0">
            <a:spAutoFit/>
          </a:bodyPr>
          <a:lstStyle/>
          <a:p>
            <a:r>
              <a:rPr lang="en-US" dirty="0" err="1"/>
              <a:t>Instabilitatea</a:t>
            </a:r>
            <a:r>
              <a:rPr lang="en-US" dirty="0"/>
              <a:t> </a:t>
            </a:r>
            <a:r>
              <a:rPr lang="en-US" dirty="0" err="1"/>
              <a:t>apare</a:t>
            </a:r>
            <a:r>
              <a:rPr lang="en-US" dirty="0"/>
              <a:t> de la </a:t>
            </a:r>
            <a:r>
              <a:rPr lang="en-US" dirty="0" err="1"/>
              <a:t>valoarea</a:t>
            </a:r>
            <a:r>
              <a:rPr lang="en-US" dirty="0"/>
              <a:t> </a:t>
            </a:r>
            <a:r>
              <a:rPr lang="en-US" b="1" dirty="0"/>
              <a:t>A = 1.31 V</a:t>
            </a:r>
          </a:p>
        </p:txBody>
      </p:sp>
      <p:sp>
        <p:nvSpPr>
          <p:cNvPr id="6" name="TextBox 5">
            <a:extLst>
              <a:ext uri="{FF2B5EF4-FFF2-40B4-BE49-F238E27FC236}">
                <a16:creationId xmlns:a16="http://schemas.microsoft.com/office/drawing/2014/main" id="{A54D1A40-7692-26EE-50B7-EE1F93DE9CE5}"/>
              </a:ext>
            </a:extLst>
          </p:cNvPr>
          <p:cNvSpPr txBox="1"/>
          <p:nvPr/>
        </p:nvSpPr>
        <p:spPr>
          <a:xfrm>
            <a:off x="7495550" y="6331352"/>
            <a:ext cx="1717040" cy="369332"/>
          </a:xfrm>
          <a:prstGeom prst="rect">
            <a:avLst/>
          </a:prstGeom>
          <a:noFill/>
        </p:spPr>
        <p:txBody>
          <a:bodyPr wrap="square" rtlCol="0">
            <a:spAutoFit/>
          </a:bodyPr>
          <a:lstStyle/>
          <a:p>
            <a:r>
              <a:rPr lang="en-US" dirty="0" err="1"/>
              <a:t>Grafic</a:t>
            </a:r>
            <a:r>
              <a:rPr lang="en-US" dirty="0"/>
              <a:t> </a:t>
            </a:r>
            <a:r>
              <a:rPr lang="en-US" dirty="0" err="1"/>
              <a:t>Bifurcatie</a:t>
            </a:r>
            <a:endParaRPr lang="en-US" dirty="0"/>
          </a:p>
        </p:txBody>
      </p:sp>
    </p:spTree>
    <p:extLst>
      <p:ext uri="{BB962C8B-B14F-4D97-AF65-F5344CB8AC3E}">
        <p14:creationId xmlns:p14="http://schemas.microsoft.com/office/powerpoint/2010/main" val="3698038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48DABB-C20C-6807-0166-FAA05EF0D400}"/>
              </a:ext>
            </a:extLst>
          </p:cNvPr>
          <p:cNvSpPr txBox="1"/>
          <p:nvPr/>
        </p:nvSpPr>
        <p:spPr>
          <a:xfrm>
            <a:off x="186813" y="363793"/>
            <a:ext cx="5594555" cy="369332"/>
          </a:xfrm>
          <a:prstGeom prst="rect">
            <a:avLst/>
          </a:prstGeom>
          <a:noFill/>
        </p:spPr>
        <p:txBody>
          <a:bodyPr wrap="square" rtlCol="0">
            <a:spAutoFit/>
          </a:bodyPr>
          <a:lstStyle/>
          <a:p>
            <a:r>
              <a:rPr lang="en-US" dirty="0" err="1"/>
              <a:t>Pentru</a:t>
            </a:r>
            <a:r>
              <a:rPr lang="en-US" dirty="0"/>
              <a:t> </a:t>
            </a:r>
            <a:r>
              <a:rPr lang="en-US" dirty="0" err="1"/>
              <a:t>comparatie</a:t>
            </a:r>
            <a:r>
              <a:rPr lang="en-US" dirty="0"/>
              <a:t>, am ales </a:t>
            </a:r>
            <a:r>
              <a:rPr lang="en-US" dirty="0" err="1"/>
              <a:t>sa</a:t>
            </a:r>
            <a:r>
              <a:rPr lang="en-US" dirty="0"/>
              <a:t> </a:t>
            </a:r>
            <a:r>
              <a:rPr lang="en-US" dirty="0" err="1"/>
              <a:t>facem</a:t>
            </a:r>
            <a:r>
              <a:rPr lang="en-US" dirty="0"/>
              <a:t> o schema in </a:t>
            </a:r>
            <a:r>
              <a:rPr lang="en-US" dirty="0" err="1"/>
              <a:t>Caspoc</a:t>
            </a:r>
            <a:r>
              <a:rPr lang="en-US" dirty="0"/>
              <a:t>:</a:t>
            </a:r>
          </a:p>
        </p:txBody>
      </p:sp>
      <p:pic>
        <p:nvPicPr>
          <p:cNvPr id="4" name="Picture 3">
            <a:extLst>
              <a:ext uri="{FF2B5EF4-FFF2-40B4-BE49-F238E27FC236}">
                <a16:creationId xmlns:a16="http://schemas.microsoft.com/office/drawing/2014/main" id="{34451C2D-4814-108F-D0AB-C9B40C9A2813}"/>
              </a:ext>
            </a:extLst>
          </p:cNvPr>
          <p:cNvPicPr>
            <a:picLocks noChangeAspect="1"/>
          </p:cNvPicPr>
          <p:nvPr/>
        </p:nvPicPr>
        <p:blipFill>
          <a:blip r:embed="rId2"/>
          <a:stretch>
            <a:fillRect/>
          </a:stretch>
        </p:blipFill>
        <p:spPr>
          <a:xfrm>
            <a:off x="1026160" y="998112"/>
            <a:ext cx="10139680" cy="4861775"/>
          </a:xfrm>
          <a:prstGeom prst="rect">
            <a:avLst/>
          </a:prstGeom>
        </p:spPr>
      </p:pic>
      <p:sp>
        <p:nvSpPr>
          <p:cNvPr id="5" name="TextBox 4">
            <a:extLst>
              <a:ext uri="{FF2B5EF4-FFF2-40B4-BE49-F238E27FC236}">
                <a16:creationId xmlns:a16="http://schemas.microsoft.com/office/drawing/2014/main" id="{046CDD7F-A7EF-E4E3-6EB7-AF034C10FD38}"/>
              </a:ext>
            </a:extLst>
          </p:cNvPr>
          <p:cNvSpPr txBox="1"/>
          <p:nvPr/>
        </p:nvSpPr>
        <p:spPr>
          <a:xfrm>
            <a:off x="3677920" y="6124875"/>
            <a:ext cx="4836160" cy="369332"/>
          </a:xfrm>
          <a:prstGeom prst="rect">
            <a:avLst/>
          </a:prstGeom>
          <a:noFill/>
        </p:spPr>
        <p:txBody>
          <a:bodyPr wrap="square" rtlCol="0">
            <a:spAutoFit/>
          </a:bodyPr>
          <a:lstStyle/>
          <a:p>
            <a:r>
              <a:rPr lang="en-US" dirty="0"/>
              <a:t>Schema </a:t>
            </a:r>
            <a:r>
              <a:rPr lang="en-US" dirty="0" err="1"/>
              <a:t>Caspoc</a:t>
            </a:r>
            <a:r>
              <a:rPr lang="en-US" dirty="0"/>
              <a:t> convertor cu </a:t>
            </a:r>
            <a:r>
              <a:rPr lang="en-US" dirty="0" err="1"/>
              <a:t>bucla</a:t>
            </a:r>
            <a:r>
              <a:rPr lang="en-US" dirty="0"/>
              <a:t> de </a:t>
            </a:r>
            <a:r>
              <a:rPr lang="en-US" dirty="0" err="1"/>
              <a:t>reactie</a:t>
            </a:r>
            <a:endParaRPr lang="en-US" dirty="0"/>
          </a:p>
        </p:txBody>
      </p:sp>
    </p:spTree>
    <p:extLst>
      <p:ext uri="{BB962C8B-B14F-4D97-AF65-F5344CB8AC3E}">
        <p14:creationId xmlns:p14="http://schemas.microsoft.com/office/powerpoint/2010/main" val="1426702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7B39C8-EA5E-AC3C-5AB3-9A4474BE5DB6}"/>
              </a:ext>
            </a:extLst>
          </p:cNvPr>
          <p:cNvSpPr txBox="1"/>
          <p:nvPr/>
        </p:nvSpPr>
        <p:spPr>
          <a:xfrm>
            <a:off x="290379" y="203855"/>
            <a:ext cx="10190808" cy="369332"/>
          </a:xfrm>
          <a:prstGeom prst="rect">
            <a:avLst/>
          </a:prstGeom>
          <a:noFill/>
        </p:spPr>
        <p:txBody>
          <a:bodyPr wrap="square" rtlCol="0">
            <a:spAutoFit/>
          </a:bodyPr>
          <a:lstStyle/>
          <a:p>
            <a:r>
              <a:rPr lang="en-US" dirty="0" err="1"/>
              <a:t>Punctul</a:t>
            </a:r>
            <a:r>
              <a:rPr lang="en-US" dirty="0"/>
              <a:t> </a:t>
            </a:r>
            <a:r>
              <a:rPr lang="en-US" dirty="0" err="1"/>
              <a:t>i</a:t>
            </a:r>
            <a:r>
              <a:rPr lang="en-US" dirty="0"/>
              <a:t>) </a:t>
            </a:r>
            <a:r>
              <a:rPr lang="en-US" dirty="0" err="1"/>
              <a:t>Proiectaţi</a:t>
            </a:r>
            <a:r>
              <a:rPr lang="en-US" dirty="0"/>
              <a:t> un controller digital care </a:t>
            </a:r>
            <a:r>
              <a:rPr lang="en-US" dirty="0" err="1"/>
              <a:t>să</a:t>
            </a:r>
            <a:r>
              <a:rPr lang="en-US" dirty="0"/>
              <a:t> </a:t>
            </a:r>
            <a:r>
              <a:rPr lang="en-US" dirty="0" err="1"/>
              <a:t>stabilizeze</a:t>
            </a:r>
            <a:r>
              <a:rPr lang="en-US" dirty="0"/>
              <a:t> </a:t>
            </a:r>
            <a:r>
              <a:rPr lang="en-US" dirty="0" err="1"/>
              <a:t>tensiunea</a:t>
            </a:r>
            <a:r>
              <a:rPr lang="en-US" dirty="0"/>
              <a:t> de </a:t>
            </a:r>
            <a:r>
              <a:rPr lang="en-US" dirty="0" err="1"/>
              <a:t>ieşire</a:t>
            </a:r>
            <a:r>
              <a:rPr lang="en-US" dirty="0"/>
              <a:t> la </a:t>
            </a:r>
            <a:r>
              <a:rPr lang="en-US" dirty="0" err="1"/>
              <a:t>valoarea</a:t>
            </a:r>
            <a:r>
              <a:rPr lang="en-US" dirty="0"/>
              <a:t> </a:t>
            </a:r>
            <a:r>
              <a:rPr lang="en-US" dirty="0" err="1"/>
              <a:t>precizată</a:t>
            </a:r>
            <a:r>
              <a:rPr lang="en-US" dirty="0"/>
              <a:t>.</a:t>
            </a:r>
          </a:p>
        </p:txBody>
      </p:sp>
      <p:sp>
        <p:nvSpPr>
          <p:cNvPr id="3" name="TextBox 2">
            <a:extLst>
              <a:ext uri="{FF2B5EF4-FFF2-40B4-BE49-F238E27FC236}">
                <a16:creationId xmlns:a16="http://schemas.microsoft.com/office/drawing/2014/main" id="{CF3E4A15-6E81-E24D-B908-16C85B6CFA92}"/>
              </a:ext>
            </a:extLst>
          </p:cNvPr>
          <p:cNvSpPr txBox="1"/>
          <p:nvPr/>
        </p:nvSpPr>
        <p:spPr>
          <a:xfrm>
            <a:off x="3057831" y="573187"/>
            <a:ext cx="5004620" cy="369332"/>
          </a:xfrm>
          <a:prstGeom prst="rect">
            <a:avLst/>
          </a:prstGeom>
          <a:noFill/>
        </p:spPr>
        <p:txBody>
          <a:bodyPr wrap="square" rtlCol="0">
            <a:spAutoFit/>
          </a:bodyPr>
          <a:lstStyle/>
          <a:p>
            <a:r>
              <a:rPr lang="en-US" dirty="0"/>
              <a:t>*</a:t>
            </a:r>
            <a:r>
              <a:rPr lang="en-US" dirty="0" err="1"/>
              <a:t>Aici</a:t>
            </a:r>
            <a:r>
              <a:rPr lang="en-US" dirty="0"/>
              <a:t> nu am </a:t>
            </a:r>
            <a:r>
              <a:rPr lang="en-US" dirty="0" err="1"/>
              <a:t>mai</a:t>
            </a:r>
            <a:r>
              <a:rPr lang="en-US" dirty="0"/>
              <a:t> pus </a:t>
            </a:r>
            <a:r>
              <a:rPr lang="en-US" dirty="0" err="1"/>
              <a:t>valori</a:t>
            </a:r>
            <a:r>
              <a:rPr lang="en-US" dirty="0"/>
              <a:t>, le </a:t>
            </a:r>
            <a:r>
              <a:rPr lang="en-US" dirty="0" err="1"/>
              <a:t>pui</a:t>
            </a:r>
            <a:r>
              <a:rPr lang="en-US" dirty="0"/>
              <a:t> </a:t>
            </a:r>
            <a:r>
              <a:rPr lang="en-US" dirty="0" err="1"/>
              <a:t>tu</a:t>
            </a:r>
            <a:r>
              <a:rPr lang="en-US" dirty="0"/>
              <a:t> </a:t>
            </a:r>
            <a:r>
              <a:rPr lang="en-US" dirty="0" err="1"/>
              <a:t>daca</a:t>
            </a:r>
            <a:r>
              <a:rPr lang="en-US" dirty="0"/>
              <a:t> </a:t>
            </a:r>
            <a:r>
              <a:rPr lang="en-US" dirty="0" err="1"/>
              <a:t>vrei</a:t>
            </a:r>
            <a:r>
              <a:rPr lang="en-US" dirty="0"/>
              <a:t>*</a:t>
            </a:r>
          </a:p>
        </p:txBody>
      </p:sp>
      <p:pic>
        <p:nvPicPr>
          <p:cNvPr id="5" name="Picture 4" descr="A diagram of a mathematical model&#10;&#10;AI-generated content may be incorrect.">
            <a:extLst>
              <a:ext uri="{FF2B5EF4-FFF2-40B4-BE49-F238E27FC236}">
                <a16:creationId xmlns:a16="http://schemas.microsoft.com/office/drawing/2014/main" id="{0E8AB444-324D-8F6E-36D4-7C4F88AC0D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012" y="1041605"/>
            <a:ext cx="8819535" cy="4960988"/>
          </a:xfrm>
          <a:prstGeom prst="rect">
            <a:avLst/>
          </a:prstGeom>
        </p:spPr>
      </p:pic>
      <p:sp>
        <p:nvSpPr>
          <p:cNvPr id="6" name="TextBox 5">
            <a:extLst>
              <a:ext uri="{FF2B5EF4-FFF2-40B4-BE49-F238E27FC236}">
                <a16:creationId xmlns:a16="http://schemas.microsoft.com/office/drawing/2014/main" id="{13246EAF-036E-198F-79A5-A06FD13F3039}"/>
              </a:ext>
            </a:extLst>
          </p:cNvPr>
          <p:cNvSpPr txBox="1"/>
          <p:nvPr/>
        </p:nvSpPr>
        <p:spPr>
          <a:xfrm>
            <a:off x="4463843" y="6100147"/>
            <a:ext cx="2703871" cy="369332"/>
          </a:xfrm>
          <a:prstGeom prst="rect">
            <a:avLst/>
          </a:prstGeom>
          <a:noFill/>
        </p:spPr>
        <p:txBody>
          <a:bodyPr wrap="square" rtlCol="0">
            <a:spAutoFit/>
          </a:bodyPr>
          <a:lstStyle/>
          <a:p>
            <a:r>
              <a:rPr lang="en-US" dirty="0"/>
              <a:t>Schema controller digital</a:t>
            </a:r>
          </a:p>
        </p:txBody>
      </p:sp>
    </p:spTree>
    <p:extLst>
      <p:ext uri="{BB962C8B-B14F-4D97-AF65-F5344CB8AC3E}">
        <p14:creationId xmlns:p14="http://schemas.microsoft.com/office/powerpoint/2010/main" val="39210255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216</TotalTime>
  <Words>702</Words>
  <Application>Microsoft Office PowerPoint</Application>
  <PresentationFormat>Widescreen</PresentationFormat>
  <Paragraphs>52</Paragraphs>
  <Slides>16</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1" baseType="lpstr">
      <vt:lpstr>Arial</vt:lpstr>
      <vt:lpstr>Calibri</vt:lpstr>
      <vt:lpstr>Calibri Light</vt:lpstr>
      <vt:lpstr>Celestial</vt:lpstr>
      <vt:lpstr>Equation.3</vt:lpstr>
      <vt:lpstr>Proiect MSS – Tema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iorga denis</dc:creator>
  <cp:lastModifiedBy>iorga denis</cp:lastModifiedBy>
  <cp:revision>3</cp:revision>
  <dcterms:created xsi:type="dcterms:W3CDTF">2026-01-18T18:36:33Z</dcterms:created>
  <dcterms:modified xsi:type="dcterms:W3CDTF">2026-01-18T22:13:07Z</dcterms:modified>
</cp:coreProperties>
</file>